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image" Target="../media/image-20-1.png"/><Relationship Id="rId4" Type="http://schemas.openxmlformats.org/officeDocument/2006/relationships/image" Target="../media/image-2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3" name="Image 0" descr="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0287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Hardware-Based Digital Identity Protection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general concept of the HSM to its real-world implementation in the Digital Identity Protection Vault project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4434840"/>
            <a:ext cx="3657600" cy="0"/>
          </a:xfrm>
          <a:prstGeom prst="line">
            <a:avLst/>
          </a:prstGeom>
          <a:noFill/>
          <a:ln w="25400">
            <a:solidFill>
              <a:srgbClr val="F2A5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Security Modules — Concept, Industry Use, and a Real-World Implementation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7F7F5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2029968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5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0" y="223570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11680" y="18745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HSM?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011680" y="2359152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concept, working principle, types, and core functions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7F7F5"/>
          </a:solidFill>
          <a:ln/>
        </p:spPr>
      </p:sp>
      <p:sp>
        <p:nvSpPr>
          <p:cNvPr id="10" name="Shape 7"/>
          <p:cNvSpPr/>
          <p:nvPr/>
        </p:nvSpPr>
        <p:spPr>
          <a:xfrm>
            <a:off x="9966960" y="3675888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1" name="Image 1" descr="icons/glob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0" y="388162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35204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2011680" y="35204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Companies Use It?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011680" y="4005072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Banks, cloud computing, PKI, code signing, and governments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50292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7F7F5"/>
          </a:solidFill>
          <a:ln/>
        </p:spPr>
      </p:sp>
      <p:sp>
        <p:nvSpPr>
          <p:cNvPr id="16" name="Shape 12"/>
          <p:cNvSpPr/>
          <p:nvPr/>
        </p:nvSpPr>
        <p:spPr>
          <a:xfrm>
            <a:off x="9966960" y="5321808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7" name="Image 2" descr="icons/ke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0" y="552754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" y="51663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2011680" y="51663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Project: Digital Identity Protection Vault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2011680" y="5650992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architecture using Pico HSM to prevent session hijacking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9418320" y="2103120"/>
            <a:ext cx="1371600" cy="13716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4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1220" y="24460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2004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HSM?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40233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concept, working principle, types, and core functions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HSM?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675120" cy="4754880"/>
          </a:xfrm>
          <a:prstGeom prst="roundRect">
            <a:avLst>
              <a:gd name="adj" fmla="val 2308"/>
            </a:avLst>
          </a:prstGeom>
          <a:solidFill>
            <a:srgbClr val="F7F7F5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64592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Security Module (HSM):
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specialized physical hardware device, built for one purpose only: generating, storing, and using cryptographic keys </a:t>
            </a:r>
            <a:pPr algn="l"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ever letting them leave the device.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32004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a bank vault: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36118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ask the vault to "sign this paper," and the clerk inside signs it and hands you back the signature — but no one can open the vault and see, or take, the pen (the key) itself.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470916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specifically uses Pico HSM: </a:t>
            </a:r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open-source, USB-chip-sized version that applies the same principle at a fraction of the cost of enterprise-grade devices.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966960" y="146304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9" name="Image 0" descr="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16230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89520" y="15087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private key is never exported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966960" y="242316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2" name="Image 1" descr="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6980" y="25831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4688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cryptographic operations happen internally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966960" y="338328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5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80" y="35433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89520" y="34290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Tamper-resistant hardware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an HSM Work Internally?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stages, all happening within the physical boundary of the device itself — the private key is never exposed at any point.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7F7F5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331720"/>
            <a:ext cx="914400" cy="9144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6" name="Image 0" descr="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560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29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Generation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931920"/>
            <a:ext cx="2788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key pair (public/private) is generated inside the chip using a true hardware random number generator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087368" y="3794760"/>
            <a:ext cx="201168" cy="274320"/>
          </a:xfrm>
          <a:prstGeom prst="rightArrow">
            <a:avLst/>
          </a:prstGeom>
          <a:solidFill>
            <a:srgbClr val="F2A522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0" y="201168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7F7F5"/>
          </a:solidFill>
          <a:ln/>
        </p:spPr>
      </p:sp>
      <p:sp>
        <p:nvSpPr>
          <p:cNvPr id="11" name="Shape 8"/>
          <p:cNvSpPr/>
          <p:nvPr/>
        </p:nvSpPr>
        <p:spPr>
          <a:xfrm>
            <a:off x="5554980" y="2331720"/>
            <a:ext cx="914400" cy="9144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2" name="Image 1" descr="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0" y="25603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3429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Confinement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3931920"/>
            <a:ext cx="2788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private key is stored in protected memory and marked Non-Extractable — no command can export it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744968" y="3794760"/>
            <a:ext cx="201168" cy="274320"/>
          </a:xfrm>
          <a:prstGeom prst="rightArrow">
            <a:avLst/>
          </a:prstGeom>
          <a:solidFill>
            <a:srgbClr val="F2A522"/>
          </a:solidFill>
          <a:ln/>
        </p:spPr>
      </p:sp>
      <p:sp>
        <p:nvSpPr>
          <p:cNvPr id="16" name="Shape 12"/>
          <p:cNvSpPr/>
          <p:nvPr/>
        </p:nvSpPr>
        <p:spPr>
          <a:xfrm>
            <a:off x="7955280" y="201168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7F7F5"/>
          </a:solidFill>
          <a:ln/>
        </p:spPr>
      </p:sp>
      <p:sp>
        <p:nvSpPr>
          <p:cNvPr id="17" name="Shape 13"/>
          <p:cNvSpPr/>
          <p:nvPr/>
        </p:nvSpPr>
        <p:spPr>
          <a:xfrm>
            <a:off x="9212580" y="2331720"/>
            <a:ext cx="914400" cy="9144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8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0" y="25603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38160" y="3429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Only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75320" y="3931920"/>
            <a:ext cx="2788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device receives data (text/challenge) and returns the signing or decryption result, without ever revealing the key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HSM Devices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F7F7F5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1737360"/>
            <a:ext cx="868680" cy="86868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5" name="Image 0" descr="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130" y="195453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554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Appliances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196596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boxes installed in data centers, used over the network by dozens of servers at once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242316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and most powerful; used by major banks and cloud providers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F7F7F5"/>
          </a:solidFill>
          <a:ln/>
        </p:spPr>
      </p:sp>
      <p:sp>
        <p:nvSpPr>
          <p:cNvPr id="10" name="Shape 7"/>
          <p:cNvSpPr/>
          <p:nvPr/>
        </p:nvSpPr>
        <p:spPr>
          <a:xfrm>
            <a:off x="9966960" y="3429000"/>
            <a:ext cx="868680" cy="86868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1" name="Image 1" descr="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130" y="364617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2461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PCIe Cards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914400" y="365760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directly inside the server itself for the lowest possible latency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914400" y="411480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very high-volume, high-speed signing operations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80060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F7F7F5"/>
          </a:solidFill>
          <a:ln/>
        </p:spPr>
      </p:sp>
      <p:sp>
        <p:nvSpPr>
          <p:cNvPr id="16" name="Shape 12"/>
          <p:cNvSpPr/>
          <p:nvPr/>
        </p:nvSpPr>
        <p:spPr>
          <a:xfrm>
            <a:off x="9966960" y="5120640"/>
            <a:ext cx="868680" cy="86868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7" name="Image 2" descr="icons/ke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130" y="533781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493776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/ Smart-Card Devices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914400" y="53492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portable devices the size of a chip or USB key, for individual users or developers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914400" y="580644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type used in our project: Pico HSM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Functions of an HSM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6283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0020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5" name="Image 0" descr="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331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Generation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697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cryptographic key pairs with high-quality randomness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6283E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160020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0" name="Image 1" descr="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331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Storage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72000" y="2697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Storing private keys in protected, non-extractable memory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6283E"/>
          </a:solidFill>
          <a:ln/>
        </p:spPr>
      </p:sp>
      <p:sp>
        <p:nvSpPr>
          <p:cNvPr id="14" name="Shape 10"/>
          <p:cNvSpPr/>
          <p:nvPr/>
        </p:nvSpPr>
        <p:spPr>
          <a:xfrm>
            <a:off x="8275320" y="160020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5" name="Image 2" descr="icons/f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2331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Signing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275320" y="2697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data without ever exposing the key used to sign it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703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6283E"/>
          </a:solidFill>
          <a:ln/>
        </p:spPr>
      </p:sp>
      <p:sp>
        <p:nvSpPr>
          <p:cNvPr id="19" name="Shape 14"/>
          <p:cNvSpPr/>
          <p:nvPr/>
        </p:nvSpPr>
        <p:spPr>
          <a:xfrm>
            <a:off x="868680" y="393192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20" name="Image 3" descr="icons/refre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0919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8680" y="4663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&amp; Decryption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68680" y="5029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sensitive data entirely internally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43400" y="3703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6283E"/>
          </a:solidFill>
          <a:ln/>
        </p:spPr>
      </p:sp>
      <p:sp>
        <p:nvSpPr>
          <p:cNvPr id="24" name="Shape 18"/>
          <p:cNvSpPr/>
          <p:nvPr/>
        </p:nvSpPr>
        <p:spPr>
          <a:xfrm>
            <a:off x="4572000" y="393192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25" name="Image 4" descr="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09194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72000" y="4663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 Resistance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572000" y="5029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any physical intrusion attempt and auto-wiping keys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046720" y="3703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6283E"/>
          </a:solidFill>
          <a:ln/>
        </p:spPr>
      </p:sp>
      <p:sp>
        <p:nvSpPr>
          <p:cNvPr id="29" name="Shape 22"/>
          <p:cNvSpPr/>
          <p:nvPr/>
        </p:nvSpPr>
        <p:spPr>
          <a:xfrm>
            <a:off x="8275320" y="393192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30" name="Image 5" descr="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340" y="409194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75320" y="4663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275320" y="5029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standards such as FIPS 140-2/3 and PCI HSM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9418320" y="2103120"/>
            <a:ext cx="1371600" cy="13716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4" name="Image 0" descr="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1220" y="24460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2004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Companies Use It?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40233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banks to cloud computing to public key infrastructure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02920"/>
            <a:ext cx="1005840" cy="100584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3" name="Image 0" descr="icons/c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0" y="7543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and Payment Systems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a bank's database is breached, the actual encryption keys remain out of reach"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85800" y="2176272"/>
            <a:ext cx="109728" cy="109728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011680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encryption keys for card numbers and PIN codes during every payment transaction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85800" y="3044952"/>
            <a:ext cx="109728" cy="109728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880360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bank transactions and interbank transfers to prevent tampering or repudiation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85800" y="3913632"/>
            <a:ext cx="109728" cy="109728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749040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under the PCI HSM standard for any entity processing credit card transactions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02920"/>
            <a:ext cx="1005840" cy="100584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3" name="Image 0" descr="icons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0" y="7543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Service Providers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foundation behind every cloud "Key Management Service" (KMS) today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85800" y="2176272"/>
            <a:ext cx="109728" cy="109728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011680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CloudHSM, Azure Key Vault, and Google Cloud HSM: rented HSM services for businesses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85800" y="3044952"/>
            <a:ext cx="109728" cy="109728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880360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Envelope Encryption: a master key in the HSM encrypts sub-keys that encrypt the actual data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85800" y="3913632"/>
            <a:ext cx="109728" cy="109728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749040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companies use hardware-grade protection without buying the physical device themselves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02920"/>
            <a:ext cx="1005840" cy="100584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3" name="Image 0" descr="icons/f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0" y="7543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Key Infrastructure (PKI)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padlock icon in your browser ultimately rests on a key protected by an HSM somewhere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85800" y="2176272"/>
            <a:ext cx="109728" cy="109728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011680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Authorities store their Root Key inside an HSM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85800" y="3044952"/>
            <a:ext cx="109728" cy="109728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880360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key is the foundation of trust for every SSL/TLS certificate on the internet — its leak would be catastrophic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85800" y="3913632"/>
            <a:ext cx="109728" cy="109728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749040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principle used in our project: generating a key that can never be extracted, to prove identity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02920"/>
            <a:ext cx="1005840" cy="100584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3" name="Image 0" descr="icons/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0" y="7543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Signing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this signature, any Windows or mobile app update would be wide open to forgery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85800" y="2176272"/>
            <a:ext cx="109728" cy="109728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011680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companies sign their software updates with a key stored in an HSM before releasing them to users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85800" y="3044952"/>
            <a:ext cx="109728" cy="109728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880360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to the user the update genuinely came from the company and wasn't tampered with by an attacker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85800" y="3913632"/>
            <a:ext cx="109728" cy="109728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749040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supply chain attacks that have previously compromised entire operating systems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02920"/>
            <a:ext cx="1005840" cy="100584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3" name="Image 0" descr="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0" y="7543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Governments and Sensitive Sectors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failure of protection is simply not an option, the HSM is the default standard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85800" y="2176272"/>
            <a:ext cx="109728" cy="109728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011680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passports and national ID cards carry chips built on the same HSM principle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85800" y="3044952"/>
            <a:ext cx="109728" cy="109728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880360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military and diplomatic communications rely on physically tamper-resistant devices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85800" y="3913632"/>
            <a:ext cx="109728" cy="109728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749040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voting systems, where adopted, use HSMs to guarantee results cannot be manipulated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9418320" y="2103120"/>
            <a:ext cx="1371600" cy="13716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4" name="Image 0" descr="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1220" y="24460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2004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Project: Digital Identity Protection Vault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40233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practical application of the HSM principle to prevent login session theft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Session Hijacking (Pass-the-Cookie)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AECE7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731520" cy="73152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5" name="Image 0" descr="icon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737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Traditional Approach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user logs in with a password
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browser stores a Session Cookie / Token
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Any malware (infostealer) on the device reads this token
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The attacker uses the same token from their own machine and is treated as the legitimate user — without ever knowing the password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37160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E1F5EE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1645920"/>
            <a:ext cx="731520" cy="73152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0" name="Image 1" descr="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Project's Solution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83680" y="237744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static token is ever stored in the browser or on disk at all.
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login is a fresh digital signature on a random challenge, performed inside a physical Pico HSM — it can never be copied or reused.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Specifically Chose Pico HSM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875520" y="1554480"/>
            <a:ext cx="777240" cy="77724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4" name="Image 0" descr="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9830" y="1748790"/>
            <a:ext cx="388620" cy="3886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50876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Open Source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18745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the code and hardware design are published for review — no black boxes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9875520" y="2697480"/>
            <a:ext cx="777240" cy="77724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8" name="Image 1" descr="icons/c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830" y="2891790"/>
            <a:ext cx="388620" cy="3886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65176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Low Cost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30175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the same protection principle as enterprise-grade devices at a fraction of the price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9875520" y="3840480"/>
            <a:ext cx="777240" cy="77724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2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830" y="403479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79476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PKCS#11 Compliant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14400" y="41605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industry standard used by enterprise HSMs, accessed via OpenSC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9875520" y="4983480"/>
            <a:ext cx="777240" cy="77724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6" name="Image 3" descr="icons/cpu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9830" y="5177790"/>
            <a:ext cx="388620" cy="3886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493776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USB / Smart-Card Interface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914400" y="53035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non-standard driver required; works with fully open-source tooling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Architecture: Three Independent Components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7F7F5"/>
          </a:solidFill>
          <a:ln/>
        </p:spPr>
      </p:sp>
      <p:sp>
        <p:nvSpPr>
          <p:cNvPr id="4" name="Shape 2"/>
          <p:cNvSpPr/>
          <p:nvPr/>
        </p:nvSpPr>
        <p:spPr>
          <a:xfrm>
            <a:off x="1897380" y="1920240"/>
            <a:ext cx="914400" cy="9144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5" name="Image 0" descr="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148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0175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Website (Relying Party)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14400" y="361188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 university admin portal: issues challenges and verifies signatures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087368" y="3108960"/>
            <a:ext cx="201168" cy="274320"/>
          </a:xfrm>
          <a:prstGeom prst="rightArrow">
            <a:avLst/>
          </a:prstGeom>
          <a:solidFill>
            <a:srgbClr val="F2A522"/>
          </a:solidFill>
          <a:ln/>
        </p:spPr>
      </p:sp>
      <p:sp>
        <p:nvSpPr>
          <p:cNvPr id="9" name="Shape 6"/>
          <p:cNvSpPr/>
          <p:nvPr/>
        </p:nvSpPr>
        <p:spPr>
          <a:xfrm>
            <a:off x="4297680" y="16459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7F7F5"/>
          </a:solidFill>
          <a:ln/>
        </p:spPr>
      </p:sp>
      <p:sp>
        <p:nvSpPr>
          <p:cNvPr id="10" name="Shape 7"/>
          <p:cNvSpPr/>
          <p:nvPr/>
        </p:nvSpPr>
        <p:spPr>
          <a:xfrm>
            <a:off x="5554980" y="1920240"/>
            <a:ext cx="914400" cy="9144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1" name="Image 1" descr="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0" y="21488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0175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Agent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361188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service on the user's own machine only, the sole component able to talk to the HSM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744968" y="3108960"/>
            <a:ext cx="201168" cy="274320"/>
          </a:xfrm>
          <a:prstGeom prst="rightArrow">
            <a:avLst/>
          </a:prstGeom>
          <a:solidFill>
            <a:srgbClr val="F2A522"/>
          </a:solidFill>
          <a:ln/>
        </p:spPr>
      </p:sp>
      <p:sp>
        <p:nvSpPr>
          <p:cNvPr id="15" name="Shape 11"/>
          <p:cNvSpPr/>
          <p:nvPr/>
        </p:nvSpPr>
        <p:spPr>
          <a:xfrm>
            <a:off x="7955280" y="16459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7F7F5"/>
          </a:solidFill>
          <a:ln/>
        </p:spPr>
      </p:sp>
      <p:sp>
        <p:nvSpPr>
          <p:cNvPr id="16" name="Shape 12"/>
          <p:cNvSpPr/>
          <p:nvPr/>
        </p:nvSpPr>
        <p:spPr>
          <a:xfrm>
            <a:off x="9212580" y="1920240"/>
            <a:ext cx="914400" cy="9144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7" name="Image 2" descr="icons/ke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0" y="21488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38160" y="30175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 HSM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229600" y="361188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physical root of trust; signs internally and never exports the private key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between components happens strictly over localhost, with origin verification at every step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Challenge-Response Protocol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83E"/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1531620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5" name="Image 0" descr="icons/us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1668780"/>
            <a:ext cx="274320" cy="274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577340"/>
            <a:ext cx="457200" cy="457200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577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137160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requests login with just their username — no password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350008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83E"/>
          </a:solidFill>
          <a:ln/>
        </p:spPr>
      </p:sp>
      <p:sp>
        <p:nvSpPr>
          <p:cNvPr id="10" name="Shape 7"/>
          <p:cNvSpPr/>
          <p:nvPr/>
        </p:nvSpPr>
        <p:spPr>
          <a:xfrm>
            <a:off x="10195560" y="2510028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1" name="Image 1" descr="icons/refre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647188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68680" y="2555748"/>
            <a:ext cx="457200" cy="457200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13" name="Text 9"/>
          <p:cNvSpPr/>
          <p:nvPr/>
        </p:nvSpPr>
        <p:spPr>
          <a:xfrm>
            <a:off x="868680" y="25557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554480" y="2350008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generates a random challenge, valid once and for 60 seconds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3328416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83E"/>
          </a:solidFill>
          <a:ln/>
        </p:spPr>
      </p:sp>
      <p:sp>
        <p:nvSpPr>
          <p:cNvPr id="16" name="Shape 12"/>
          <p:cNvSpPr/>
          <p:nvPr/>
        </p:nvSpPr>
        <p:spPr>
          <a:xfrm>
            <a:off x="10195560" y="3488436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7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3625596"/>
            <a:ext cx="274320" cy="2743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68680" y="3534156"/>
            <a:ext cx="457200" cy="457200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19" name="Text 14"/>
          <p:cNvSpPr/>
          <p:nvPr/>
        </p:nvSpPr>
        <p:spPr>
          <a:xfrm>
            <a:off x="868680" y="35341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554480" y="3328416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 agent asks for your approval before any signing operation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40080" y="4306824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83E"/>
          </a:solidFill>
          <a:ln/>
        </p:spPr>
      </p:sp>
      <p:sp>
        <p:nvSpPr>
          <p:cNvPr id="22" name="Shape 17"/>
          <p:cNvSpPr/>
          <p:nvPr/>
        </p:nvSpPr>
        <p:spPr>
          <a:xfrm>
            <a:off x="10195560" y="4466844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23" name="Image 3" descr="icons/ke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4604004"/>
            <a:ext cx="274320" cy="27432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68680" y="4512564"/>
            <a:ext cx="457200" cy="457200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45125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554480" y="4306824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 HSM signs the challenge internally, without exposing the key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40080" y="5285232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83E"/>
          </a:solidFill>
          <a:ln/>
        </p:spPr>
      </p:sp>
      <p:sp>
        <p:nvSpPr>
          <p:cNvPr id="28" name="Shape 22"/>
          <p:cNvSpPr/>
          <p:nvPr/>
        </p:nvSpPr>
        <p:spPr>
          <a:xfrm>
            <a:off x="10195560" y="5445252"/>
            <a:ext cx="548640" cy="54864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29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0" y="5582412"/>
            <a:ext cx="274320" cy="27432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868680" y="5490972"/>
            <a:ext cx="457200" cy="457200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31" name="Text 24"/>
          <p:cNvSpPr/>
          <p:nvPr/>
        </p:nvSpPr>
        <p:spPr>
          <a:xfrm>
            <a:off x="868680" y="54909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1554480" y="5285232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verifies it with the public key and opens the session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 Implemented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7F7F5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600200"/>
            <a:ext cx="685800" cy="6858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5" name="Image 0" descr="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600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Non-Extractable Key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1945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EXTRACTABLE = false attribute permanently prevents exporting the private key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7F7F5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1600200"/>
            <a:ext cx="685800" cy="6858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0" name="Image 1" descr="icons/refre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177165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600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Single-Use Challenge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46520" y="21945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for only 60 seconds, invalidated immediately after verification to prevent replay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6118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7F7F5"/>
          </a:solidFill>
          <a:ln/>
        </p:spPr>
      </p:sp>
      <p:sp>
        <p:nvSpPr>
          <p:cNvPr id="14" name="Shape 10"/>
          <p:cNvSpPr/>
          <p:nvPr/>
        </p:nvSpPr>
        <p:spPr>
          <a:xfrm>
            <a:off x="960120" y="3840480"/>
            <a:ext cx="685800" cy="6858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5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401193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3840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Validation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914400" y="44348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 agent rejects any request not coming from the registered site address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2200" y="36118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7F7F5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3840480"/>
            <a:ext cx="685800" cy="6858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20" name="Image 3" descr="icons/eyeoff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401193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60920" y="3840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Human Confirmation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446520" y="44348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confirmation window before every signature, preventing silent exploitation by malware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Results: Proof of Concept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4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680210"/>
            <a:ext cx="251460" cy="2514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0876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Inspecting browser data (Cookies/Storage) after login: no reusable secret was found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85800" y="2606040"/>
            <a:ext cx="502920" cy="50292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7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273177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5603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Attempting direct access to the dashboard without a fresh challenge: rejected by the server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85800" y="3657600"/>
            <a:ext cx="502920" cy="50292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0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3783330"/>
            <a:ext cx="251460" cy="2514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61188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Shutting down the local agent before login: the process failed entirely — login is only possible via the actual HSM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85800" y="4709160"/>
            <a:ext cx="502920" cy="50292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3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4834890"/>
            <a:ext cx="251460" cy="2514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46634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Replaying a previously valid signature: rejected by the server due to challenge expiry or prior use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Even assuming full compromise of the OS and browser, there is no practical path to impersonating the user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to Global Industry Standards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6283E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2011680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5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0" y="22174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8745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WebAuthn / FIDO2 (W3C)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14400" y="235915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principle behind the physical security keys used today by Google and Microsoft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6283E"/>
          </a:solidFill>
          <a:ln/>
        </p:spPr>
      </p:sp>
      <p:sp>
        <p:nvSpPr>
          <p:cNvPr id="9" name="Shape 6"/>
          <p:cNvSpPr/>
          <p:nvPr/>
        </p:nvSpPr>
        <p:spPr>
          <a:xfrm>
            <a:off x="9966960" y="3611880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0" name="Image 1" descr="icons/glob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0" y="38176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34747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Architecture (NIST SP 800-207)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914400" y="395935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"Never trust automatically, always verify" — every session must cryptographically prove itself anew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9377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6283E"/>
          </a:solidFill>
          <a:ln/>
        </p:spPr>
      </p:sp>
      <p:sp>
        <p:nvSpPr>
          <p:cNvPr id="14" name="Shape 10"/>
          <p:cNvSpPr/>
          <p:nvPr/>
        </p:nvSpPr>
        <p:spPr>
          <a:xfrm>
            <a:off x="9966960" y="5212080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15" name="Image 2" descr="icons/targ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0" y="54178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50749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 — T1539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914400" y="555955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an officially documented attack technique called Steal Web Session Cookie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Future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E1F5E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the reusable secret from the general-purpose computer, and confining it to a hardware root of trust, neutralizes an entire class of session-hijacking attacks — regardless of how the device was compromised in the first place.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1089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HTTP with TLS across all connections, including the browser and local agent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813048"/>
            <a:ext cx="365760" cy="365760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813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767328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more than one registered key per user (primary and backup) with a secure revocation mechanism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471416"/>
            <a:ext cx="365760" cy="365760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471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425696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to native browser WebAuthn interfaces to remove the need for a custom agent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129784"/>
            <a:ext cx="365760" cy="365760"/>
          </a:xfrm>
          <a:prstGeom prst="ellipse">
            <a:avLst/>
          </a:prstGeom>
          <a:solidFill>
            <a:srgbClr val="F2A52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129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5084064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 the confirmation step with a physical button or fingerprint instead of a software dialog, where supported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2103120"/>
            <a:ext cx="1371600" cy="13716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3" name="Image 0" descr="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24460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Identity Protection and Anti-Impersonation Vault — Pico HSM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2026-07-26T00:53:09Z</dcterms:created>
  <dcterms:modified xsi:type="dcterms:W3CDTF">2026-07-26T00:53:09Z</dcterms:modified>
</cp:coreProperties>
</file>