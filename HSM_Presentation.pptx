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9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74" r:id="rId17"/>
    <p:sldId id="275" r:id="rId18"/>
    <p:sldId id="276" r:id="rId19"/>
    <p:sldId id="277" r:id="rId20"/>
    <p:sldId id="278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4" Type="http://schemas.openxmlformats.org/officeDocument/2006/relationships/tableStyles" Target="tableStyles.xml"/><Relationship Id="rId23" Type="http://schemas.openxmlformats.org/officeDocument/2006/relationships/viewProps" Target="viewProps.xml"/><Relationship Id="rId22" Type="http://schemas.openxmlformats.org/officeDocument/2006/relationships/presProps" Target="presProps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3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3.png"/><Relationship Id="rId4" Type="http://schemas.openxmlformats.org/officeDocument/2006/relationships/image" Target="../media/image6.png"/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4" Type="http://schemas.openxmlformats.org/officeDocument/2006/relationships/notesSlide" Target="../notesSlides/notesSlide11.xml"/><Relationship Id="rId3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1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2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image" Target="../media/image3.png"/><Relationship Id="rId8" Type="http://schemas.openxmlformats.org/officeDocument/2006/relationships/tags" Target="../tags/tag6.xml"/><Relationship Id="rId7" Type="http://schemas.openxmlformats.org/officeDocument/2006/relationships/tags" Target="../tags/tag5.xml"/><Relationship Id="rId6" Type="http://schemas.openxmlformats.org/officeDocument/2006/relationships/tags" Target="../tags/tag4.xml"/><Relationship Id="rId5" Type="http://schemas.openxmlformats.org/officeDocument/2006/relationships/image" Target="../media/image6.png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2" Type="http://schemas.openxmlformats.org/officeDocument/2006/relationships/notesSlide" Target="../notesSlides/notesSlide13.xml"/><Relationship Id="rId21" Type="http://schemas.openxmlformats.org/officeDocument/2006/relationships/slideLayout" Target="../slideLayouts/slideLayout1.xml"/><Relationship Id="rId20" Type="http://schemas.openxmlformats.org/officeDocument/2006/relationships/tags" Target="../tags/tag15.xml"/><Relationship Id="rId2" Type="http://schemas.openxmlformats.org/officeDocument/2006/relationships/tags" Target="../tags/tag1.xml"/><Relationship Id="rId19" Type="http://schemas.openxmlformats.org/officeDocument/2006/relationships/tags" Target="../tags/tag14.xml"/><Relationship Id="rId18" Type="http://schemas.openxmlformats.org/officeDocument/2006/relationships/tags" Target="../tags/tag13.xml"/><Relationship Id="rId17" Type="http://schemas.openxmlformats.org/officeDocument/2006/relationships/image" Target="../media/image7.png"/><Relationship Id="rId16" Type="http://schemas.openxmlformats.org/officeDocument/2006/relationships/tags" Target="../tags/tag12.xml"/><Relationship Id="rId15" Type="http://schemas.openxmlformats.org/officeDocument/2006/relationships/tags" Target="../tags/tag11.xml"/><Relationship Id="rId14" Type="http://schemas.openxmlformats.org/officeDocument/2006/relationships/tags" Target="../tags/tag10.xml"/><Relationship Id="rId13" Type="http://schemas.openxmlformats.org/officeDocument/2006/relationships/image" Target="../media/image4.png"/><Relationship Id="rId12" Type="http://schemas.openxmlformats.org/officeDocument/2006/relationships/tags" Target="../tags/tag9.xml"/><Relationship Id="rId11" Type="http://schemas.openxmlformats.org/officeDocument/2006/relationships/tags" Target="../tags/tag8.xml"/><Relationship Id="rId10" Type="http://schemas.openxmlformats.org/officeDocument/2006/relationships/tags" Target="../tags/tag7.xml"/><Relationship Id="rId1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tags" Target="../tags/tag23.xml"/><Relationship Id="rId8" Type="http://schemas.openxmlformats.org/officeDocument/2006/relationships/tags" Target="../tags/tag22.xml"/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image" Target="../media/image1.png"/><Relationship Id="rId3" Type="http://schemas.openxmlformats.org/officeDocument/2006/relationships/tags" Target="../tags/tag18.xml"/><Relationship Id="rId26" Type="http://schemas.openxmlformats.org/officeDocument/2006/relationships/notesSlide" Target="../notesSlides/notesSlide14.xml"/><Relationship Id="rId25" Type="http://schemas.openxmlformats.org/officeDocument/2006/relationships/slideLayout" Target="../slideLayouts/slideLayout1.xml"/><Relationship Id="rId24" Type="http://schemas.openxmlformats.org/officeDocument/2006/relationships/tags" Target="../tags/tag35.xml"/><Relationship Id="rId23" Type="http://schemas.openxmlformats.org/officeDocument/2006/relationships/tags" Target="../tags/tag34.xml"/><Relationship Id="rId22" Type="http://schemas.openxmlformats.org/officeDocument/2006/relationships/image" Target="../media/image15.png"/><Relationship Id="rId21" Type="http://schemas.openxmlformats.org/officeDocument/2006/relationships/tags" Target="../tags/tag33.xml"/><Relationship Id="rId20" Type="http://schemas.openxmlformats.org/officeDocument/2006/relationships/tags" Target="../tags/tag32.xml"/><Relationship Id="rId2" Type="http://schemas.openxmlformats.org/officeDocument/2006/relationships/tags" Target="../tags/tag17.xml"/><Relationship Id="rId19" Type="http://schemas.openxmlformats.org/officeDocument/2006/relationships/tags" Target="../tags/tag31.xml"/><Relationship Id="rId18" Type="http://schemas.openxmlformats.org/officeDocument/2006/relationships/tags" Target="../tags/tag30.xml"/><Relationship Id="rId17" Type="http://schemas.openxmlformats.org/officeDocument/2006/relationships/tags" Target="../tags/tag29.xml"/><Relationship Id="rId16" Type="http://schemas.openxmlformats.org/officeDocument/2006/relationships/image" Target="../media/image3.png"/><Relationship Id="rId15" Type="http://schemas.openxmlformats.org/officeDocument/2006/relationships/tags" Target="../tags/tag28.xml"/><Relationship Id="rId14" Type="http://schemas.openxmlformats.org/officeDocument/2006/relationships/tags" Target="../tags/tag27.xml"/><Relationship Id="rId13" Type="http://schemas.openxmlformats.org/officeDocument/2006/relationships/tags" Target="../tags/tag26.xml"/><Relationship Id="rId12" Type="http://schemas.openxmlformats.org/officeDocument/2006/relationships/tags" Target="../tags/tag25.xml"/><Relationship Id="rId11" Type="http://schemas.openxmlformats.org/officeDocument/2006/relationships/tags" Target="../tags/tag24.xml"/><Relationship Id="rId10" Type="http://schemas.openxmlformats.org/officeDocument/2006/relationships/image" Target="../media/image6.png"/><Relationship Id="rId1" Type="http://schemas.openxmlformats.org/officeDocument/2006/relationships/tags" Target="../tags/tag1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6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16.png"/><Relationship Id="rId2" Type="http://schemas.openxmlformats.org/officeDocument/2006/relationships/image" Target="../media/image8.png"/><Relationship Id="rId1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8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822960"/>
            <a:ext cx="822960" cy="82296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3" name="Image 0" descr="icons/lock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028700"/>
            <a:ext cx="411480" cy="41148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2377440"/>
            <a:ext cx="10515600" cy="11887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Hardware-Based Digital Identity Protection</a:t>
            </a:r>
            <a:endParaRPr lang="en-US" sz="3800" dirty="0"/>
          </a:p>
        </p:txBody>
      </p:sp>
      <p:sp>
        <p:nvSpPr>
          <p:cNvPr id="5" name="Text 2"/>
          <p:cNvSpPr/>
          <p:nvPr/>
        </p:nvSpPr>
        <p:spPr>
          <a:xfrm>
            <a:off x="822960" y="3429000"/>
            <a:ext cx="10058400" cy="7315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From the general concept of the HSM to its real-world implementation in the Digital Identity Protection Vault project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822960" y="4434840"/>
            <a:ext cx="3657600" cy="0"/>
          </a:xfrm>
          <a:prstGeom prst="line">
            <a:avLst/>
          </a:prstGeom>
          <a:noFill/>
          <a:ln w="25400">
            <a:solidFill>
              <a:srgbClr val="F2A52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Hardware Security Modules — Concept, Industry Use, and a Real-World Implementation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What is an HSM?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6675120" cy="4754880"/>
          </a:xfrm>
          <a:prstGeom prst="roundRect">
            <a:avLst>
              <a:gd name="adj" fmla="val 2308"/>
            </a:avLst>
          </a:prstGeom>
          <a:solidFill>
            <a:srgbClr val="F7F7F5"/>
          </a:solidFill>
        </p:spPr>
      </p:sp>
      <p:sp>
        <p:nvSpPr>
          <p:cNvPr id="4" name="Text 2"/>
          <p:cNvSpPr/>
          <p:nvPr/>
        </p:nvSpPr>
        <p:spPr>
          <a:xfrm>
            <a:off x="960120" y="1645920"/>
            <a:ext cx="6035040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Hardware Security Module (HSM):
</a:t>
            </a:r>
            <a:r>
              <a:rPr lang="en-US" sz="15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specialized physical hardware device, built for one purpose only: generating, storing, and using cryptographic keys </a:t>
            </a:r>
            <a:r>
              <a:rPr lang="en-US" sz="1500" b="1" dirty="0">
                <a:solidFill>
                  <a:srgbClr val="1D9E7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without ever letting them leave the device.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60120" y="3200400"/>
            <a:ext cx="60350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Think of it like a bank vault: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0120" y="3611880"/>
            <a:ext cx="603504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You can ask the vault to "sign this paper," and the clerk inside signs it and hands you back the signature — but no one can open the vault and see, or take, the pen (the key) itself.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60120" y="4709160"/>
            <a:ext cx="603504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This project specifically uses Pico HSM: </a:t>
            </a:r>
            <a:r>
              <a:rPr lang="en-US" sz="14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an open-source, USB-chip-sized version that applies the same principle at a fraction of the cost of enterprise-grade devices.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9966960" y="1463040"/>
            <a:ext cx="640080" cy="640080"/>
          </a:xfrm>
          <a:prstGeom prst="ellipse">
            <a:avLst/>
          </a:prstGeom>
          <a:solidFill>
            <a:srgbClr val="0D1B2A"/>
          </a:solidFill>
        </p:spPr>
      </p:sp>
      <p:pic>
        <p:nvPicPr>
          <p:cNvPr id="9" name="Image 0" descr="icons/lock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1623060"/>
            <a:ext cx="320040" cy="3200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7589520" y="1508760"/>
            <a:ext cx="22402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private key is never exported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9966960" y="2423160"/>
            <a:ext cx="640080" cy="640080"/>
          </a:xfrm>
          <a:prstGeom prst="ellipse">
            <a:avLst/>
          </a:prstGeom>
          <a:solidFill>
            <a:srgbClr val="0D1B2A"/>
          </a:solidFill>
        </p:spPr>
      </p:sp>
      <p:pic>
        <p:nvPicPr>
          <p:cNvPr id="12" name="Image 1" descr="icons/cpu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26980" y="2583180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89520" y="2468880"/>
            <a:ext cx="22402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All cryptographic operations happen internally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9966960" y="3383280"/>
            <a:ext cx="640080" cy="640080"/>
          </a:xfrm>
          <a:prstGeom prst="ellipse">
            <a:avLst/>
          </a:prstGeom>
          <a:solidFill>
            <a:srgbClr val="0D1B2A"/>
          </a:solidFill>
        </p:spPr>
      </p:sp>
      <p:pic>
        <p:nvPicPr>
          <p:cNvPr id="15" name="Image 2" descr="icons/shield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26980" y="354330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7589520" y="3429000"/>
            <a:ext cx="2240280" cy="5943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Tamper-resistant hardware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Core Functions of an HSM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6283E"/>
          </a:solidFill>
        </p:spPr>
      </p:sp>
      <p:sp>
        <p:nvSpPr>
          <p:cNvPr id="4" name="Shape 2"/>
          <p:cNvSpPr/>
          <p:nvPr/>
        </p:nvSpPr>
        <p:spPr>
          <a:xfrm>
            <a:off x="868680" y="1600200"/>
            <a:ext cx="640080" cy="64008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5" name="Image 0" descr="icons/key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8700" y="1760220"/>
            <a:ext cx="320040" cy="3200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8680" y="2331720"/>
            <a:ext cx="3063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Key Generation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68680" y="2697480"/>
            <a:ext cx="30632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Creating cryptographic key pairs with high-quality randomness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34340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6283E"/>
          </a:solidFill>
        </p:spPr>
      </p:sp>
      <p:sp>
        <p:nvSpPr>
          <p:cNvPr id="9" name="Shape 6"/>
          <p:cNvSpPr/>
          <p:nvPr/>
        </p:nvSpPr>
        <p:spPr>
          <a:xfrm>
            <a:off x="4572000" y="1600200"/>
            <a:ext cx="640080" cy="64008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0" name="Image 1" descr="icons/loc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2020" y="1760220"/>
            <a:ext cx="320040" cy="3200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572000" y="2331720"/>
            <a:ext cx="3063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Secure Storage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4572000" y="2697480"/>
            <a:ext cx="30632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Storing private keys in protected, non-extractable memory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8046720" y="137160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6283E"/>
          </a:solidFill>
        </p:spPr>
      </p:sp>
      <p:sp>
        <p:nvSpPr>
          <p:cNvPr id="14" name="Shape 10"/>
          <p:cNvSpPr/>
          <p:nvPr/>
        </p:nvSpPr>
        <p:spPr>
          <a:xfrm>
            <a:off x="8275320" y="1600200"/>
            <a:ext cx="640080" cy="64008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5" name="Image 2" descr="icons/fi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5340" y="1760220"/>
            <a:ext cx="320040" cy="32004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8275320" y="2331720"/>
            <a:ext cx="3063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Digital Signing</a:t>
            </a:r>
            <a:endParaRPr lang="en-US" sz="1500" dirty="0"/>
          </a:p>
        </p:txBody>
      </p:sp>
      <p:sp>
        <p:nvSpPr>
          <p:cNvPr id="17" name="Text 12"/>
          <p:cNvSpPr/>
          <p:nvPr/>
        </p:nvSpPr>
        <p:spPr>
          <a:xfrm>
            <a:off x="8275320" y="2697480"/>
            <a:ext cx="30632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Signing data without ever exposing the key used to sign it</a:t>
            </a:r>
            <a:endParaRPr lang="en-US" sz="1150" dirty="0"/>
          </a:p>
        </p:txBody>
      </p:sp>
      <p:sp>
        <p:nvSpPr>
          <p:cNvPr id="18" name="Shape 13"/>
          <p:cNvSpPr/>
          <p:nvPr/>
        </p:nvSpPr>
        <p:spPr>
          <a:xfrm>
            <a:off x="64008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6283E"/>
          </a:solidFill>
        </p:spPr>
      </p:sp>
      <p:sp>
        <p:nvSpPr>
          <p:cNvPr id="19" name="Shape 14"/>
          <p:cNvSpPr/>
          <p:nvPr/>
        </p:nvSpPr>
        <p:spPr>
          <a:xfrm>
            <a:off x="868680" y="3931920"/>
            <a:ext cx="640080" cy="64008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20" name="Image 3" descr="icons/refresh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" y="4091940"/>
            <a:ext cx="320040" cy="32004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68680" y="4663440"/>
            <a:ext cx="3063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Encryption &amp; Decryption</a:t>
            </a:r>
            <a:endParaRPr lang="en-US" sz="1500" dirty="0"/>
          </a:p>
        </p:txBody>
      </p:sp>
      <p:sp>
        <p:nvSpPr>
          <p:cNvPr id="22" name="Text 16"/>
          <p:cNvSpPr/>
          <p:nvPr/>
        </p:nvSpPr>
        <p:spPr>
          <a:xfrm>
            <a:off x="868680" y="5029200"/>
            <a:ext cx="30632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Processing sensitive data entirely internally</a:t>
            </a:r>
            <a:endParaRPr 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434340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6283E"/>
          </a:solidFill>
        </p:spPr>
      </p:sp>
      <p:sp>
        <p:nvSpPr>
          <p:cNvPr id="24" name="Shape 18"/>
          <p:cNvSpPr/>
          <p:nvPr/>
        </p:nvSpPr>
        <p:spPr>
          <a:xfrm>
            <a:off x="4572000" y="3931920"/>
            <a:ext cx="640080" cy="64008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25" name="Image 4" descr="icons/shield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2020" y="4091940"/>
            <a:ext cx="320040" cy="32004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572000" y="4663440"/>
            <a:ext cx="3063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Tamper Resistance</a:t>
            </a:r>
            <a:endParaRPr lang="en-US" sz="1500" dirty="0"/>
          </a:p>
        </p:txBody>
      </p:sp>
      <p:sp>
        <p:nvSpPr>
          <p:cNvPr id="27" name="Text 20"/>
          <p:cNvSpPr/>
          <p:nvPr/>
        </p:nvSpPr>
        <p:spPr>
          <a:xfrm>
            <a:off x="4572000" y="5029200"/>
            <a:ext cx="30632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Detecting any physical intrusion attempt and auto-wiping keys</a:t>
            </a:r>
            <a:endParaRPr lang="en-US" sz="1150" dirty="0"/>
          </a:p>
        </p:txBody>
      </p:sp>
      <p:sp>
        <p:nvSpPr>
          <p:cNvPr id="28" name="Shape 21"/>
          <p:cNvSpPr/>
          <p:nvPr/>
        </p:nvSpPr>
        <p:spPr>
          <a:xfrm>
            <a:off x="8046720" y="3703320"/>
            <a:ext cx="3520440" cy="2103120"/>
          </a:xfrm>
          <a:prstGeom prst="roundRect">
            <a:avLst>
              <a:gd name="adj" fmla="val 4348"/>
            </a:avLst>
          </a:prstGeom>
          <a:solidFill>
            <a:srgbClr val="16283E"/>
          </a:solidFill>
        </p:spPr>
      </p:sp>
      <p:sp>
        <p:nvSpPr>
          <p:cNvPr id="29" name="Shape 22"/>
          <p:cNvSpPr/>
          <p:nvPr/>
        </p:nvSpPr>
        <p:spPr>
          <a:xfrm>
            <a:off x="8275320" y="3931920"/>
            <a:ext cx="640080" cy="64008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30" name="Image 5" descr="icons/check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5340" y="4091940"/>
            <a:ext cx="320040" cy="32004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8275320" y="4663440"/>
            <a:ext cx="306324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Regulatory Compliance</a:t>
            </a:r>
            <a:endParaRPr lang="en-US" sz="1500" dirty="0"/>
          </a:p>
        </p:txBody>
      </p:sp>
      <p:sp>
        <p:nvSpPr>
          <p:cNvPr id="32" name="Text 24"/>
          <p:cNvSpPr/>
          <p:nvPr/>
        </p:nvSpPr>
        <p:spPr>
          <a:xfrm>
            <a:off x="8275320" y="5029200"/>
            <a:ext cx="30632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1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Meeting standards such as FIPS 140-2/3 and PCI HSM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418320" y="2103120"/>
            <a:ext cx="1371600" cy="13716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4" name="Image 0" descr="icons/globe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1220" y="2446020"/>
            <a:ext cx="685800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3200400"/>
            <a:ext cx="987552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How Do Companies Use It?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4023360"/>
            <a:ext cx="98755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From banks to cloud computing to public key infrastructure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02920"/>
            <a:ext cx="1005840" cy="10058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3" name="Image 0" descr="icons/card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0" y="7543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02920"/>
            <a:ext cx="88696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Banks and Payment Systems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88696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1D9E7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"If a bank's database is breached, the actual encryption keys remain out of reach"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217627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7" name="Text 4"/>
          <p:cNvSpPr/>
          <p:nvPr/>
        </p:nvSpPr>
        <p:spPr>
          <a:xfrm>
            <a:off x="960120" y="201168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Protecting encryption keys for card numbers and PIN codes during every payment transaction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85800" y="304495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9" name="Text 6"/>
          <p:cNvSpPr/>
          <p:nvPr/>
        </p:nvSpPr>
        <p:spPr>
          <a:xfrm>
            <a:off x="960120" y="288036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Signing bank transactions and interbank transfers to prevent tampering or repudiation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85800" y="391363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1" name="Text 8"/>
          <p:cNvSpPr/>
          <p:nvPr/>
        </p:nvSpPr>
        <p:spPr>
          <a:xfrm>
            <a:off x="960120" y="374904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Mandatory under the PCI HSM standard for any entity processing credit card transactions</a:t>
            </a:r>
            <a:endParaRPr lang="en-US" sz="14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02920"/>
            <a:ext cx="1005840" cy="10058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3" name="Image 0" descr="icons/cloud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0" y="7543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02920"/>
            <a:ext cx="88696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Cloud Service Providers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88696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1D9E7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technical foundation behind every cloud "Key Management Service" (KMS) today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217627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7" name="Text 4"/>
          <p:cNvSpPr/>
          <p:nvPr/>
        </p:nvSpPr>
        <p:spPr>
          <a:xfrm>
            <a:off x="960120" y="201168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AWS CloudHSM, Azure Key Vault, and Google Cloud HSM: rented HSM services for businesses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85800" y="304495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9" name="Text 6"/>
          <p:cNvSpPr/>
          <p:nvPr/>
        </p:nvSpPr>
        <p:spPr>
          <a:xfrm>
            <a:off x="960120" y="288036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Used for Envelope Encryption: a master key in the HSM encrypts sub-keys that encrypt the actual data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85800" y="391363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1" name="Text 8"/>
          <p:cNvSpPr/>
          <p:nvPr/>
        </p:nvSpPr>
        <p:spPr>
          <a:xfrm>
            <a:off x="960120" y="374904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Lets companies use hardware-grade protection without buying the physical device themselves</a:t>
            </a:r>
            <a:endParaRPr lang="en-US" sz="14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02920"/>
            <a:ext cx="1005840" cy="10058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3" name="Image 0" descr="icons/file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0" y="7543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02920"/>
            <a:ext cx="88696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Public Key Infrastructure (PKI)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88696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1D9E7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Every padlock icon in your browser ultimately rests on a key protected by an HSM somewhere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217627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7" name="Text 4"/>
          <p:cNvSpPr/>
          <p:nvPr/>
        </p:nvSpPr>
        <p:spPr>
          <a:xfrm>
            <a:off x="960120" y="201168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Certificate Authorities store their Root Key inside an HSM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85800" y="304495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9" name="Text 6"/>
          <p:cNvSpPr/>
          <p:nvPr/>
        </p:nvSpPr>
        <p:spPr>
          <a:xfrm>
            <a:off x="960120" y="288036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This key is the foundation of trust for every SSL/TLS certificate on the internet — its leak would be catastrophic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85800" y="391363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1" name="Text 8"/>
          <p:cNvSpPr/>
          <p:nvPr/>
        </p:nvSpPr>
        <p:spPr>
          <a:xfrm>
            <a:off x="960120" y="374904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same principle used in our project: generating a key that can never be extracted, to prove identity</a:t>
            </a:r>
            <a:endParaRPr lang="en-US" sz="14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02920"/>
            <a:ext cx="1005840" cy="10058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3" name="Image 0" descr="icons/code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0" y="7543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02920"/>
            <a:ext cx="88696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Code Signing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88696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1D9E7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Without this signature, any Windows or mobile app update would be wide open to forgery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217627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7" name="Text 4"/>
          <p:cNvSpPr/>
          <p:nvPr/>
        </p:nvSpPr>
        <p:spPr>
          <a:xfrm>
            <a:off x="960120" y="201168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Tech companies sign their software updates with a key stored in an HSM before releasing them to users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85800" y="304495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9" name="Text 6"/>
          <p:cNvSpPr/>
          <p:nvPr/>
        </p:nvSpPr>
        <p:spPr>
          <a:xfrm>
            <a:off x="960120" y="288036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Proves to the user the update genuinely came from the company and wasn't tampered with by an attacker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85800" y="391363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1" name="Text 8"/>
          <p:cNvSpPr/>
          <p:nvPr/>
        </p:nvSpPr>
        <p:spPr>
          <a:xfrm>
            <a:off x="960120" y="374904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Prevents supply chain attacks that have previously compromised entire operating systems</a:t>
            </a:r>
            <a:endParaRPr lang="en-US" sz="14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502920"/>
            <a:ext cx="1005840" cy="10058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3" name="Image 0" descr="icons/globe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44100" y="754380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40080" y="502920"/>
            <a:ext cx="886968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Governments and Sensitive Sectors</a:t>
            </a:r>
            <a:endParaRPr lang="en-US" sz="2700" dirty="0"/>
          </a:p>
        </p:txBody>
      </p:sp>
      <p:sp>
        <p:nvSpPr>
          <p:cNvPr id="5" name="Text 2"/>
          <p:cNvSpPr/>
          <p:nvPr/>
        </p:nvSpPr>
        <p:spPr>
          <a:xfrm>
            <a:off x="640080" y="1280160"/>
            <a:ext cx="88696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i="1" dirty="0">
                <a:solidFill>
                  <a:srgbClr val="1D9E7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Where failure of protection is simply not an option, the HSM is the default standard</a:t>
            </a:r>
            <a:endParaRPr lang="en-US" sz="1350" dirty="0"/>
          </a:p>
        </p:txBody>
      </p:sp>
      <p:sp>
        <p:nvSpPr>
          <p:cNvPr id="6" name="Shape 3"/>
          <p:cNvSpPr/>
          <p:nvPr/>
        </p:nvSpPr>
        <p:spPr>
          <a:xfrm>
            <a:off x="685800" y="217627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7" name="Text 4"/>
          <p:cNvSpPr/>
          <p:nvPr/>
        </p:nvSpPr>
        <p:spPr>
          <a:xfrm>
            <a:off x="960120" y="201168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Electronic passports and national ID cards carry chips built on the same HSM principle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685800" y="304495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9" name="Text 6"/>
          <p:cNvSpPr/>
          <p:nvPr/>
        </p:nvSpPr>
        <p:spPr>
          <a:xfrm>
            <a:off x="960120" y="288036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Encrypted military and diplomatic communications rely on physically tamper-resistant devices</a:t>
            </a:r>
            <a:endParaRPr lang="en-US" sz="1450" dirty="0"/>
          </a:p>
        </p:txBody>
      </p:sp>
      <p:sp>
        <p:nvSpPr>
          <p:cNvPr id="10" name="Shape 7"/>
          <p:cNvSpPr/>
          <p:nvPr/>
        </p:nvSpPr>
        <p:spPr>
          <a:xfrm>
            <a:off x="685800" y="3913632"/>
            <a:ext cx="109728" cy="109728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1" name="Text 8"/>
          <p:cNvSpPr/>
          <p:nvPr/>
        </p:nvSpPr>
        <p:spPr>
          <a:xfrm>
            <a:off x="960120" y="3749040"/>
            <a:ext cx="9464040" cy="6858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Electronic voting systems, where adopted, use HSMs to guarantee results cannot be manipulated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9418320" y="2103120"/>
            <a:ext cx="1371600" cy="13716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4" name="Image 0" descr="icons/key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1220" y="2446020"/>
            <a:ext cx="685800" cy="6858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22960" y="3200400"/>
            <a:ext cx="987552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Project: Digital Identity Protection Vault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822960" y="4023360"/>
            <a:ext cx="987552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complete practical application of the HSM principle to prevent login session theft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Problem: Session Hijacking (Pass-the-Cookie)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5212080" cy="4754880"/>
          </a:xfrm>
          <a:prstGeom prst="roundRect">
            <a:avLst>
              <a:gd name="adj" fmla="val 2308"/>
            </a:avLst>
          </a:prstGeom>
          <a:solidFill>
            <a:srgbClr val="FAECE7"/>
          </a:solidFill>
        </p:spPr>
      </p:sp>
      <p:sp>
        <p:nvSpPr>
          <p:cNvPr id="4" name="Shape 2"/>
          <p:cNvSpPr/>
          <p:nvPr/>
        </p:nvSpPr>
        <p:spPr>
          <a:xfrm>
            <a:off x="914400" y="1645920"/>
            <a:ext cx="731520" cy="731520"/>
          </a:xfrm>
          <a:prstGeom prst="ellipse">
            <a:avLst/>
          </a:prstGeom>
          <a:solidFill>
            <a:srgbClr val="D85A30"/>
          </a:solidFill>
        </p:spPr>
      </p:sp>
      <p:pic>
        <p:nvPicPr>
          <p:cNvPr id="5" name="Image 0" descr="icons/alert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82880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828800" y="1737360"/>
            <a:ext cx="384048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712B1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Traditional Approach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14400" y="2377440"/>
            <a:ext cx="4663440" cy="3474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1. The user logs in with a password
</a:t>
            </a: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2. The browser stores a Session Cookie / Token
</a:t>
            </a: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3. Any malware (infostealer) on the device reads this token
</a:t>
            </a:r>
            <a:r>
              <a:rPr lang="en-US" sz="1350" b="1" dirty="0">
                <a:solidFill>
                  <a:srgbClr val="712B13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4. The attacker uses the same token from their own machine and is treated as the legitimate user — without ever knowing the password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309360" y="1371600"/>
            <a:ext cx="5212080" cy="4754880"/>
          </a:xfrm>
          <a:prstGeom prst="roundRect">
            <a:avLst>
              <a:gd name="adj" fmla="val 2308"/>
            </a:avLst>
          </a:prstGeom>
          <a:solidFill>
            <a:srgbClr val="E1F5EE"/>
          </a:solidFill>
        </p:spPr>
      </p:sp>
      <p:sp>
        <p:nvSpPr>
          <p:cNvPr id="9" name="Shape 6"/>
          <p:cNvSpPr/>
          <p:nvPr/>
        </p:nvSpPr>
        <p:spPr>
          <a:xfrm>
            <a:off x="6583680" y="1645920"/>
            <a:ext cx="731520" cy="73152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0" name="Image 1" descr="icons/shield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82880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98080" y="1737360"/>
            <a:ext cx="3657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8504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Project's Solution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6583680" y="2377440"/>
            <a:ext cx="4663440" cy="3474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350" b="1" dirty="0">
                <a:solidFill>
                  <a:srgbClr val="08504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No static token is ever stored in the browser or on disk at all.
</a:t>
            </a: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Every login is a fresh digital signature on a random challenge, performed inside a physical Pico HSM — it can never be copied or reused.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System Architecture: Three Independent Components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640080" y="164592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7F7F5"/>
          </a:solidFill>
        </p:spPr>
      </p:sp>
      <p:sp>
        <p:nvSpPr>
          <p:cNvPr id="4" name="Shape 2"/>
          <p:cNvSpPr/>
          <p:nvPr/>
        </p:nvSpPr>
        <p:spPr>
          <a:xfrm>
            <a:off x="1897380" y="1920240"/>
            <a:ext cx="914400" cy="9144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5" name="Image 0" descr="icons/server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980" y="214884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22960" y="3017520"/>
            <a:ext cx="30632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Mock Website (Relying Party)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914400" y="3611880"/>
            <a:ext cx="288036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test university admin portal: issues challenges and verifies signatures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4087368" y="3108960"/>
            <a:ext cx="201168" cy="274320"/>
          </a:xfrm>
          <a:prstGeom prst="rightArrow">
            <a:avLst/>
          </a:prstGeom>
          <a:solidFill>
            <a:srgbClr val="F2A522"/>
          </a:solidFill>
        </p:spPr>
      </p:sp>
      <p:sp>
        <p:nvSpPr>
          <p:cNvPr id="9" name="Shape 6"/>
          <p:cNvSpPr/>
          <p:nvPr/>
        </p:nvSpPr>
        <p:spPr>
          <a:xfrm>
            <a:off x="4297680" y="164592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7F7F5"/>
          </a:solidFill>
        </p:spPr>
      </p:sp>
      <p:sp>
        <p:nvSpPr>
          <p:cNvPr id="10" name="Shape 7"/>
          <p:cNvSpPr/>
          <p:nvPr/>
        </p:nvSpPr>
        <p:spPr>
          <a:xfrm>
            <a:off x="5554980" y="1920240"/>
            <a:ext cx="914400" cy="9144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1" name="Image 1" descr="icons/cpu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0" y="2148840"/>
            <a:ext cx="457200" cy="4572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480560" y="3017520"/>
            <a:ext cx="30632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Local Agent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72000" y="3611880"/>
            <a:ext cx="288036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service on the user's own machine only, the sole component able to talk to the HSM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7744968" y="3108960"/>
            <a:ext cx="201168" cy="274320"/>
          </a:xfrm>
          <a:prstGeom prst="rightArrow">
            <a:avLst/>
          </a:prstGeom>
          <a:solidFill>
            <a:srgbClr val="F2A522"/>
          </a:solidFill>
        </p:spPr>
      </p:sp>
      <p:sp>
        <p:nvSpPr>
          <p:cNvPr id="15" name="Shape 11"/>
          <p:cNvSpPr/>
          <p:nvPr/>
        </p:nvSpPr>
        <p:spPr>
          <a:xfrm>
            <a:off x="7955280" y="1645920"/>
            <a:ext cx="3429000" cy="3291840"/>
          </a:xfrm>
          <a:prstGeom prst="roundRect">
            <a:avLst>
              <a:gd name="adj" fmla="val 3333"/>
            </a:avLst>
          </a:prstGeom>
          <a:solidFill>
            <a:srgbClr val="F7F7F5"/>
          </a:solidFill>
        </p:spPr>
      </p:sp>
      <p:sp>
        <p:nvSpPr>
          <p:cNvPr id="16" name="Shape 12"/>
          <p:cNvSpPr/>
          <p:nvPr/>
        </p:nvSpPr>
        <p:spPr>
          <a:xfrm>
            <a:off x="9212580" y="1920240"/>
            <a:ext cx="914400" cy="9144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7" name="Image 2" descr="icons/key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1180" y="2148840"/>
            <a:ext cx="457200" cy="45720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138160" y="3017520"/>
            <a:ext cx="306324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5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Pico HSM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8229600" y="3611880"/>
            <a:ext cx="2880360" cy="11887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15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physical root of trust; signs internally and never exports the private key</a:t>
            </a:r>
            <a:endParaRPr lang="en-US" sz="1150" dirty="0"/>
          </a:p>
        </p:txBody>
      </p:sp>
      <p:sp>
        <p:nvSpPr>
          <p:cNvPr id="20" name="Text 15"/>
          <p:cNvSpPr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1D9E7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Communication between components happens strictly over localhost, with origin verification at every step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Challenge-Response Protocol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83E"/>
          </a:solidFill>
        </p:spPr>
      </p:sp>
      <p:sp>
        <p:nvSpPr>
          <p:cNvPr id="4" name="Shape 2"/>
          <p:cNvSpPr/>
          <p:nvPr/>
        </p:nvSpPr>
        <p:spPr>
          <a:xfrm>
            <a:off x="10195560" y="1531620"/>
            <a:ext cx="548640" cy="5486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5" name="Image 0" descr="icons/user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1668780"/>
            <a:ext cx="274320" cy="274320"/>
          </a:xfrm>
          <a:prstGeom prst="rect">
            <a:avLst/>
          </a:prstGeom>
        </p:spPr>
      </p:pic>
      <p:sp>
        <p:nvSpPr>
          <p:cNvPr id="6" name="Shape 3"/>
          <p:cNvSpPr/>
          <p:nvPr>
            <p:custDataLst>
              <p:tags r:id="rId2"/>
            </p:custDataLst>
          </p:nvPr>
        </p:nvSpPr>
        <p:spPr>
          <a:xfrm>
            <a:off x="868680" y="1577340"/>
            <a:ext cx="457200" cy="45720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7" name="Text 4"/>
          <p:cNvSpPr/>
          <p:nvPr>
            <p:custDataLst>
              <p:tags r:id="rId3"/>
            </p:custDataLst>
          </p:nvPr>
        </p:nvSpPr>
        <p:spPr>
          <a:xfrm>
            <a:off x="868680" y="1577340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5"/>
          <p:cNvSpPr/>
          <p:nvPr>
            <p:custDataLst>
              <p:tags r:id="rId4"/>
            </p:custDataLst>
          </p:nvPr>
        </p:nvSpPr>
        <p:spPr>
          <a:xfrm>
            <a:off x="1554480" y="1371600"/>
            <a:ext cx="841248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user requests login with just their username — no password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40080" y="2350008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83E"/>
          </a:solidFill>
        </p:spPr>
      </p:sp>
      <p:sp>
        <p:nvSpPr>
          <p:cNvPr id="10" name="Shape 7"/>
          <p:cNvSpPr/>
          <p:nvPr/>
        </p:nvSpPr>
        <p:spPr>
          <a:xfrm>
            <a:off x="10195560" y="2510028"/>
            <a:ext cx="548640" cy="5486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1" name="Image 1" descr="icons/refresh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32720" y="2647188"/>
            <a:ext cx="274320" cy="274320"/>
          </a:xfrm>
          <a:prstGeom prst="rect">
            <a:avLst/>
          </a:prstGeom>
        </p:spPr>
      </p:pic>
      <p:sp>
        <p:nvSpPr>
          <p:cNvPr id="12" name="Shape 8"/>
          <p:cNvSpPr/>
          <p:nvPr>
            <p:custDataLst>
              <p:tags r:id="rId6"/>
            </p:custDataLst>
          </p:nvPr>
        </p:nvSpPr>
        <p:spPr>
          <a:xfrm>
            <a:off x="868680" y="2555748"/>
            <a:ext cx="457200" cy="45720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3" name="Text 9"/>
          <p:cNvSpPr/>
          <p:nvPr>
            <p:custDataLst>
              <p:tags r:id="rId7"/>
            </p:custDataLst>
          </p:nvPr>
        </p:nvSpPr>
        <p:spPr>
          <a:xfrm>
            <a:off x="868680" y="2555748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0"/>
          <p:cNvSpPr/>
          <p:nvPr>
            <p:custDataLst>
              <p:tags r:id="rId8"/>
            </p:custDataLst>
          </p:nvPr>
        </p:nvSpPr>
        <p:spPr>
          <a:xfrm>
            <a:off x="1554480" y="2350008"/>
            <a:ext cx="841248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server generates a random challenge, valid once and for 60 seconds</a:t>
            </a:r>
            <a:endParaRPr lang="en-US" sz="1400" dirty="0"/>
          </a:p>
        </p:txBody>
      </p:sp>
      <p:sp>
        <p:nvSpPr>
          <p:cNvPr id="15" name="Shape 11"/>
          <p:cNvSpPr/>
          <p:nvPr/>
        </p:nvSpPr>
        <p:spPr>
          <a:xfrm>
            <a:off x="640080" y="3328416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83E"/>
          </a:solidFill>
        </p:spPr>
      </p:sp>
      <p:sp>
        <p:nvSpPr>
          <p:cNvPr id="16" name="Shape 12"/>
          <p:cNvSpPr/>
          <p:nvPr/>
        </p:nvSpPr>
        <p:spPr>
          <a:xfrm>
            <a:off x="10195560" y="3488436"/>
            <a:ext cx="548640" cy="5486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7" name="Image 2" descr="icons/shield_whit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332720" y="3625596"/>
            <a:ext cx="274320" cy="274320"/>
          </a:xfrm>
          <a:prstGeom prst="rect">
            <a:avLst/>
          </a:prstGeom>
        </p:spPr>
      </p:pic>
      <p:sp>
        <p:nvSpPr>
          <p:cNvPr id="18" name="Shape 13"/>
          <p:cNvSpPr/>
          <p:nvPr>
            <p:custDataLst>
              <p:tags r:id="rId10"/>
            </p:custDataLst>
          </p:nvPr>
        </p:nvSpPr>
        <p:spPr>
          <a:xfrm>
            <a:off x="868680" y="3534156"/>
            <a:ext cx="457200" cy="45720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9" name="Text 14"/>
          <p:cNvSpPr/>
          <p:nvPr>
            <p:custDataLst>
              <p:tags r:id="rId11"/>
            </p:custDataLst>
          </p:nvPr>
        </p:nvSpPr>
        <p:spPr>
          <a:xfrm>
            <a:off x="868680" y="3534156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5"/>
          <p:cNvSpPr/>
          <p:nvPr>
            <p:custDataLst>
              <p:tags r:id="rId12"/>
            </p:custDataLst>
          </p:nvPr>
        </p:nvSpPr>
        <p:spPr>
          <a:xfrm>
            <a:off x="1554480" y="3328416"/>
            <a:ext cx="841248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local agent asks for your approval before any signing operation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640080" y="4306824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83E"/>
          </a:solidFill>
        </p:spPr>
      </p:sp>
      <p:sp>
        <p:nvSpPr>
          <p:cNvPr id="22" name="Shape 17"/>
          <p:cNvSpPr/>
          <p:nvPr/>
        </p:nvSpPr>
        <p:spPr>
          <a:xfrm>
            <a:off x="10195560" y="4466844"/>
            <a:ext cx="548640" cy="5486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23" name="Image 3" descr="icons/key_whit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32720" y="4604004"/>
            <a:ext cx="274320" cy="274320"/>
          </a:xfrm>
          <a:prstGeom prst="rect">
            <a:avLst/>
          </a:prstGeom>
        </p:spPr>
      </p:pic>
      <p:sp>
        <p:nvSpPr>
          <p:cNvPr id="24" name="Shape 18"/>
          <p:cNvSpPr/>
          <p:nvPr>
            <p:custDataLst>
              <p:tags r:id="rId14"/>
            </p:custDataLst>
          </p:nvPr>
        </p:nvSpPr>
        <p:spPr>
          <a:xfrm>
            <a:off x="868680" y="4512564"/>
            <a:ext cx="457200" cy="45720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25" name="Text 19"/>
          <p:cNvSpPr/>
          <p:nvPr>
            <p:custDataLst>
              <p:tags r:id="rId15"/>
            </p:custDataLst>
          </p:nvPr>
        </p:nvSpPr>
        <p:spPr>
          <a:xfrm>
            <a:off x="868680" y="4512564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0"/>
          <p:cNvSpPr/>
          <p:nvPr>
            <p:custDataLst>
              <p:tags r:id="rId16"/>
            </p:custDataLst>
          </p:nvPr>
        </p:nvSpPr>
        <p:spPr>
          <a:xfrm>
            <a:off x="1554480" y="4306824"/>
            <a:ext cx="841248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Pico HSM signs the challenge internally, without exposing the key</a:t>
            </a:r>
            <a:endParaRPr lang="en-US" sz="1400" dirty="0"/>
          </a:p>
        </p:txBody>
      </p:sp>
      <p:sp>
        <p:nvSpPr>
          <p:cNvPr id="27" name="Shape 21"/>
          <p:cNvSpPr/>
          <p:nvPr/>
        </p:nvSpPr>
        <p:spPr>
          <a:xfrm>
            <a:off x="640080" y="5285232"/>
            <a:ext cx="10881360" cy="868680"/>
          </a:xfrm>
          <a:prstGeom prst="roundRect">
            <a:avLst>
              <a:gd name="adj" fmla="val 10526"/>
            </a:avLst>
          </a:prstGeom>
          <a:solidFill>
            <a:srgbClr val="16283E"/>
          </a:solidFill>
        </p:spPr>
      </p:sp>
      <p:sp>
        <p:nvSpPr>
          <p:cNvPr id="28" name="Shape 22"/>
          <p:cNvSpPr/>
          <p:nvPr/>
        </p:nvSpPr>
        <p:spPr>
          <a:xfrm>
            <a:off x="10195560" y="5445252"/>
            <a:ext cx="548640" cy="54864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29" name="Image 4" descr="icons/check_white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10332720" y="5582412"/>
            <a:ext cx="274320" cy="274320"/>
          </a:xfrm>
          <a:prstGeom prst="rect">
            <a:avLst/>
          </a:prstGeom>
        </p:spPr>
      </p:pic>
      <p:sp>
        <p:nvSpPr>
          <p:cNvPr id="30" name="Shape 23"/>
          <p:cNvSpPr/>
          <p:nvPr>
            <p:custDataLst>
              <p:tags r:id="rId18"/>
            </p:custDataLst>
          </p:nvPr>
        </p:nvSpPr>
        <p:spPr>
          <a:xfrm>
            <a:off x="868680" y="5490972"/>
            <a:ext cx="457200" cy="45720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31" name="Text 24"/>
          <p:cNvSpPr/>
          <p:nvPr>
            <p:custDataLst>
              <p:tags r:id="rId19"/>
            </p:custDataLst>
          </p:nvPr>
        </p:nvSpPr>
        <p:spPr>
          <a:xfrm>
            <a:off x="868680" y="5490972"/>
            <a:ext cx="4572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5</a:t>
            </a:r>
            <a:endParaRPr lang="en-US" sz="1600" dirty="0"/>
          </a:p>
        </p:txBody>
      </p:sp>
      <p:sp>
        <p:nvSpPr>
          <p:cNvPr id="32" name="Text 25"/>
          <p:cNvSpPr/>
          <p:nvPr>
            <p:custDataLst>
              <p:tags r:id="rId20"/>
            </p:custDataLst>
          </p:nvPr>
        </p:nvSpPr>
        <p:spPr>
          <a:xfrm>
            <a:off x="1554480" y="5285232"/>
            <a:ext cx="8412480" cy="8686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server verifies it with the public key and opens the session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Security Controls Implemented</a:t>
            </a:r>
            <a:endParaRPr lang="en-US" sz="2800" dirty="0"/>
          </a:p>
        </p:txBody>
      </p:sp>
      <p:sp>
        <p:nvSpPr>
          <p:cNvPr id="3" name="Shape 1"/>
          <p:cNvSpPr/>
          <p:nvPr>
            <p:custDataLst>
              <p:tags r:id="rId1"/>
            </p:custDataLst>
          </p:nvPr>
        </p:nvSpPr>
        <p:spPr>
          <a:xfrm>
            <a:off x="640080" y="137160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7F7F5"/>
          </a:solidFill>
        </p:spPr>
      </p:sp>
      <p:sp>
        <p:nvSpPr>
          <p:cNvPr id="4" name="Shape 2"/>
          <p:cNvSpPr/>
          <p:nvPr>
            <p:custDataLst>
              <p:tags r:id="rId2"/>
            </p:custDataLst>
          </p:nvPr>
        </p:nvSpPr>
        <p:spPr>
          <a:xfrm>
            <a:off x="960120" y="1600200"/>
            <a:ext cx="685800" cy="6858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5" name="Image 0" descr="icons/lock_white.png"/>
          <p:cNvPicPr>
            <a:picLocks noChangeAspect="1"/>
          </p:cNvPicPr>
          <p:nvPr>
            <p:custDataLst>
              <p:tags r:id="rId3"/>
            </p:custDataLst>
          </p:nvPr>
        </p:nvPicPr>
        <p:blipFill>
          <a:blip r:embed="rId4"/>
          <a:stretch>
            <a:fillRect/>
          </a:stretch>
        </p:blipFill>
        <p:spPr>
          <a:xfrm>
            <a:off x="1131570" y="1771650"/>
            <a:ext cx="342900" cy="342900"/>
          </a:xfrm>
          <a:prstGeom prst="rect">
            <a:avLst/>
          </a:prstGeom>
        </p:spPr>
      </p:pic>
      <p:sp>
        <p:nvSpPr>
          <p:cNvPr id="6" name="Text 3"/>
          <p:cNvSpPr/>
          <p:nvPr>
            <p:custDataLst>
              <p:tags r:id="rId5"/>
            </p:custDataLst>
          </p:nvPr>
        </p:nvSpPr>
        <p:spPr>
          <a:xfrm>
            <a:off x="1828800" y="1600200"/>
            <a:ext cx="38404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Non-Extractable Key</a:t>
            </a:r>
            <a:endParaRPr lang="en-US" sz="1500" dirty="0"/>
          </a:p>
        </p:txBody>
      </p:sp>
      <p:sp>
        <p:nvSpPr>
          <p:cNvPr id="7" name="Text 4"/>
          <p:cNvSpPr/>
          <p:nvPr>
            <p:custDataLst>
              <p:tags r:id="rId6"/>
            </p:custDataLst>
          </p:nvPr>
        </p:nvSpPr>
        <p:spPr>
          <a:xfrm>
            <a:off x="960120" y="2280285"/>
            <a:ext cx="466344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EXTRACTABLE = false attribute permanently prevents exporting the private key</a:t>
            </a:r>
            <a:endParaRPr lang="en-US" sz="1200" dirty="0"/>
          </a:p>
        </p:txBody>
      </p:sp>
      <p:sp>
        <p:nvSpPr>
          <p:cNvPr id="8" name="Shape 5"/>
          <p:cNvSpPr/>
          <p:nvPr>
            <p:custDataLst>
              <p:tags r:id="rId7"/>
            </p:custDataLst>
          </p:nvPr>
        </p:nvSpPr>
        <p:spPr>
          <a:xfrm>
            <a:off x="6172200" y="137160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7F7F5"/>
          </a:solidFill>
        </p:spPr>
      </p:sp>
      <p:sp>
        <p:nvSpPr>
          <p:cNvPr id="9" name="Shape 6"/>
          <p:cNvSpPr/>
          <p:nvPr>
            <p:custDataLst>
              <p:tags r:id="rId8"/>
            </p:custDataLst>
          </p:nvPr>
        </p:nvSpPr>
        <p:spPr>
          <a:xfrm>
            <a:off x="6492240" y="1600200"/>
            <a:ext cx="685800" cy="6858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0" name="Image 1" descr="icons/refresh_white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663690" y="1771650"/>
            <a:ext cx="342900" cy="342900"/>
          </a:xfrm>
          <a:prstGeom prst="rect">
            <a:avLst/>
          </a:prstGeom>
        </p:spPr>
      </p:pic>
      <p:sp>
        <p:nvSpPr>
          <p:cNvPr id="11" name="Text 7"/>
          <p:cNvSpPr/>
          <p:nvPr>
            <p:custDataLst>
              <p:tags r:id="rId11"/>
            </p:custDataLst>
          </p:nvPr>
        </p:nvSpPr>
        <p:spPr>
          <a:xfrm>
            <a:off x="7360920" y="1600200"/>
            <a:ext cx="38404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Single-Use Challenge</a:t>
            </a:r>
            <a:endParaRPr lang="en-US" sz="1500" dirty="0"/>
          </a:p>
        </p:txBody>
      </p:sp>
      <p:sp>
        <p:nvSpPr>
          <p:cNvPr id="12" name="Text 8"/>
          <p:cNvSpPr/>
          <p:nvPr>
            <p:custDataLst>
              <p:tags r:id="rId12"/>
            </p:custDataLst>
          </p:nvPr>
        </p:nvSpPr>
        <p:spPr>
          <a:xfrm>
            <a:off x="6446520" y="2194560"/>
            <a:ext cx="466344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Valid for only 60 seconds, invalidated immediately after verification to prevent replay</a:t>
            </a:r>
            <a:endParaRPr lang="en-US" sz="1200" dirty="0"/>
          </a:p>
        </p:txBody>
      </p:sp>
      <p:sp>
        <p:nvSpPr>
          <p:cNvPr id="13" name="Shape 9"/>
          <p:cNvSpPr/>
          <p:nvPr>
            <p:custDataLst>
              <p:tags r:id="rId13"/>
            </p:custDataLst>
          </p:nvPr>
        </p:nvSpPr>
        <p:spPr>
          <a:xfrm>
            <a:off x="640080" y="361188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7F7F5"/>
          </a:solidFill>
        </p:spPr>
      </p:sp>
      <p:sp>
        <p:nvSpPr>
          <p:cNvPr id="14" name="Shape 10"/>
          <p:cNvSpPr/>
          <p:nvPr>
            <p:custDataLst>
              <p:tags r:id="rId14"/>
            </p:custDataLst>
          </p:nvPr>
        </p:nvSpPr>
        <p:spPr>
          <a:xfrm>
            <a:off x="960120" y="3840480"/>
            <a:ext cx="685800" cy="6858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5" name="Image 2" descr="icons/shield_white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16"/>
          <a:stretch>
            <a:fillRect/>
          </a:stretch>
        </p:blipFill>
        <p:spPr>
          <a:xfrm>
            <a:off x="1131570" y="4011930"/>
            <a:ext cx="342900" cy="342900"/>
          </a:xfrm>
          <a:prstGeom prst="rect">
            <a:avLst/>
          </a:prstGeom>
        </p:spPr>
      </p:pic>
      <p:sp>
        <p:nvSpPr>
          <p:cNvPr id="16" name="Text 11"/>
          <p:cNvSpPr/>
          <p:nvPr>
            <p:custDataLst>
              <p:tags r:id="rId17"/>
            </p:custDataLst>
          </p:nvPr>
        </p:nvSpPr>
        <p:spPr>
          <a:xfrm>
            <a:off x="1828800" y="3840480"/>
            <a:ext cx="38404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Origin Validation</a:t>
            </a:r>
            <a:endParaRPr lang="en-US" sz="1500" dirty="0"/>
          </a:p>
        </p:txBody>
      </p:sp>
      <p:sp>
        <p:nvSpPr>
          <p:cNvPr id="17" name="Text 12"/>
          <p:cNvSpPr/>
          <p:nvPr>
            <p:custDataLst>
              <p:tags r:id="rId18"/>
            </p:custDataLst>
          </p:nvPr>
        </p:nvSpPr>
        <p:spPr>
          <a:xfrm>
            <a:off x="914400" y="4434840"/>
            <a:ext cx="466344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local agent rejects any request not coming from the registered site address</a:t>
            </a:r>
            <a:endParaRPr lang="en-US" sz="1200" dirty="0"/>
          </a:p>
        </p:txBody>
      </p:sp>
      <p:sp>
        <p:nvSpPr>
          <p:cNvPr id="18" name="Shape 13"/>
          <p:cNvSpPr/>
          <p:nvPr>
            <p:custDataLst>
              <p:tags r:id="rId19"/>
            </p:custDataLst>
          </p:nvPr>
        </p:nvSpPr>
        <p:spPr>
          <a:xfrm>
            <a:off x="6172200" y="3611880"/>
            <a:ext cx="5212080" cy="1965960"/>
          </a:xfrm>
          <a:prstGeom prst="roundRect">
            <a:avLst>
              <a:gd name="adj" fmla="val 5581"/>
            </a:avLst>
          </a:prstGeom>
          <a:solidFill>
            <a:srgbClr val="F7F7F5"/>
          </a:solidFill>
        </p:spPr>
      </p:sp>
      <p:sp>
        <p:nvSpPr>
          <p:cNvPr id="19" name="Shape 14"/>
          <p:cNvSpPr/>
          <p:nvPr>
            <p:custDataLst>
              <p:tags r:id="rId20"/>
            </p:custDataLst>
          </p:nvPr>
        </p:nvSpPr>
        <p:spPr>
          <a:xfrm>
            <a:off x="6492240" y="3840480"/>
            <a:ext cx="685800" cy="6858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20" name="Image 3" descr="icons/eyeoff_white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22"/>
          <a:stretch>
            <a:fillRect/>
          </a:stretch>
        </p:blipFill>
        <p:spPr>
          <a:xfrm>
            <a:off x="6663690" y="4011930"/>
            <a:ext cx="342900" cy="342900"/>
          </a:xfrm>
          <a:prstGeom prst="rect">
            <a:avLst/>
          </a:prstGeom>
        </p:spPr>
      </p:pic>
      <p:sp>
        <p:nvSpPr>
          <p:cNvPr id="21" name="Text 15"/>
          <p:cNvSpPr/>
          <p:nvPr>
            <p:custDataLst>
              <p:tags r:id="rId23"/>
            </p:custDataLst>
          </p:nvPr>
        </p:nvSpPr>
        <p:spPr>
          <a:xfrm>
            <a:off x="7360920" y="3840480"/>
            <a:ext cx="3840480" cy="548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Mandatory Human Confirmation</a:t>
            </a:r>
            <a:endParaRPr lang="en-US" sz="1500" dirty="0"/>
          </a:p>
        </p:txBody>
      </p:sp>
      <p:sp>
        <p:nvSpPr>
          <p:cNvPr id="22" name="Text 16"/>
          <p:cNvSpPr/>
          <p:nvPr>
            <p:custDataLst>
              <p:tags r:id="rId24"/>
            </p:custDataLst>
          </p:nvPr>
        </p:nvSpPr>
        <p:spPr>
          <a:xfrm>
            <a:off x="6446520" y="4434840"/>
            <a:ext cx="466344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2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 local confirmation window before every signature, preventing silent exploitation by malware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Test Results: Proof of Concept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554480"/>
            <a:ext cx="502920" cy="50292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4" name="Image 0" descr="icons/check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1680210"/>
            <a:ext cx="251460" cy="2514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417320" y="1508760"/>
            <a:ext cx="923544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Inspecting browser data (Cookies/Storage) after login: no reusable secret was found</a:t>
            </a:r>
            <a:endParaRPr lang="en-US" sz="1450" dirty="0"/>
          </a:p>
        </p:txBody>
      </p:sp>
      <p:sp>
        <p:nvSpPr>
          <p:cNvPr id="6" name="Shape 3"/>
          <p:cNvSpPr/>
          <p:nvPr/>
        </p:nvSpPr>
        <p:spPr>
          <a:xfrm>
            <a:off x="685800" y="2606040"/>
            <a:ext cx="502920" cy="50292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7" name="Image 1" descr="icons/check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2731770"/>
            <a:ext cx="251460" cy="2514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417320" y="2560320"/>
            <a:ext cx="923544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Attempting direct access to the dashboard without a fresh challenge: rejected by the server</a:t>
            </a:r>
            <a:endParaRPr lang="en-US" sz="1450" dirty="0"/>
          </a:p>
        </p:txBody>
      </p:sp>
      <p:sp>
        <p:nvSpPr>
          <p:cNvPr id="9" name="Shape 5"/>
          <p:cNvSpPr/>
          <p:nvPr/>
        </p:nvSpPr>
        <p:spPr>
          <a:xfrm>
            <a:off x="685800" y="3657600"/>
            <a:ext cx="502920" cy="50292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0" name="Image 2" descr="icons/check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3783330"/>
            <a:ext cx="251460" cy="25146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1417320" y="3611880"/>
            <a:ext cx="923544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Shutting down the local agent before login: the process failed entirely — login is only possible via the actual HSM</a:t>
            </a:r>
            <a:endParaRPr lang="en-US" sz="1450" dirty="0"/>
          </a:p>
        </p:txBody>
      </p:sp>
      <p:sp>
        <p:nvSpPr>
          <p:cNvPr id="12" name="Shape 7"/>
          <p:cNvSpPr/>
          <p:nvPr/>
        </p:nvSpPr>
        <p:spPr>
          <a:xfrm>
            <a:off x="685800" y="4709160"/>
            <a:ext cx="502920" cy="50292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3" name="Image 3" descr="icons/check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530" y="4834890"/>
            <a:ext cx="251460" cy="25146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417320" y="4663440"/>
            <a:ext cx="923544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Replaying a previously valid signature: rejected by the server due to challenge expiry or prior use</a:t>
            </a:r>
            <a:endParaRPr lang="en-US" sz="1450" dirty="0"/>
          </a:p>
        </p:txBody>
      </p:sp>
      <p:sp>
        <p:nvSpPr>
          <p:cNvPr id="15" name="Text 9"/>
          <p:cNvSpPr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50" b="1" i="1" dirty="0">
                <a:solidFill>
                  <a:srgbClr val="1D9E75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Result: Even assuming full compromise of the OS and browser, there is no practical path to impersonating the user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Connection to Global Industry Standards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640080" y="173736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6283E"/>
          </a:solidFill>
        </p:spPr>
      </p:sp>
      <p:sp>
        <p:nvSpPr>
          <p:cNvPr id="4" name="Shape 2"/>
          <p:cNvSpPr/>
          <p:nvPr/>
        </p:nvSpPr>
        <p:spPr>
          <a:xfrm>
            <a:off x="9966960" y="2011680"/>
            <a:ext cx="822960" cy="82296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5" name="Image 0" descr="icons/shield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72700" y="221742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874520"/>
            <a:ext cx="87782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WebAuthn / FIDO2 (W3C)</a:t>
            </a:r>
            <a:endParaRPr lang="en-US" sz="1650" dirty="0"/>
          </a:p>
        </p:txBody>
      </p:sp>
      <p:sp>
        <p:nvSpPr>
          <p:cNvPr id="7" name="Text 4"/>
          <p:cNvSpPr/>
          <p:nvPr/>
        </p:nvSpPr>
        <p:spPr>
          <a:xfrm>
            <a:off x="914400" y="2359152"/>
            <a:ext cx="8778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The same principle behind the physical security keys used today by Google and Microsoft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0080" y="333756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6283E"/>
          </a:solidFill>
        </p:spPr>
      </p:sp>
      <p:sp>
        <p:nvSpPr>
          <p:cNvPr id="9" name="Shape 6"/>
          <p:cNvSpPr/>
          <p:nvPr/>
        </p:nvSpPr>
        <p:spPr>
          <a:xfrm>
            <a:off x="9966960" y="3611880"/>
            <a:ext cx="822960" cy="82296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0" name="Image 1" descr="icons/globe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2700" y="381762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3474720"/>
            <a:ext cx="87782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Zero Trust Architecture (NIST SP 800-207)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914400" y="3959352"/>
            <a:ext cx="8778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"Never trust automatically, always verify" — every session must cryptographically prove itself anew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640080" y="4937760"/>
            <a:ext cx="10881360" cy="1371600"/>
          </a:xfrm>
          <a:prstGeom prst="roundRect">
            <a:avLst>
              <a:gd name="adj" fmla="val 6667"/>
            </a:avLst>
          </a:prstGeom>
          <a:solidFill>
            <a:srgbClr val="16283E"/>
          </a:solidFill>
        </p:spPr>
      </p:sp>
      <p:sp>
        <p:nvSpPr>
          <p:cNvPr id="14" name="Shape 10"/>
          <p:cNvSpPr/>
          <p:nvPr/>
        </p:nvSpPr>
        <p:spPr>
          <a:xfrm>
            <a:off x="9966960" y="5212080"/>
            <a:ext cx="822960" cy="82296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15" name="Image 2" descr="icons/targe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2700" y="5417820"/>
            <a:ext cx="411480" cy="41148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914400" y="5074920"/>
            <a:ext cx="87782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5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MITRE ATT&amp;CK — T1539</a:t>
            </a:r>
            <a:endParaRPr lang="en-US" sz="1650" dirty="0"/>
          </a:p>
        </p:txBody>
      </p:sp>
      <p:sp>
        <p:nvSpPr>
          <p:cNvPr id="17" name="Text 12"/>
          <p:cNvSpPr/>
          <p:nvPr/>
        </p:nvSpPr>
        <p:spPr>
          <a:xfrm>
            <a:off x="914400" y="5559552"/>
            <a:ext cx="877824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E1F5EE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Closes an officially documented attack technique called Steal Web Session Cookie</a:t>
            </a:r>
            <a:endParaRPr lang="en-US" sz="1250" dirty="0"/>
          </a:p>
        </p:txBody>
      </p:sp>
      <p:sp>
        <p:nvSpPr>
          <p:cNvPr id="18" name="Text 13"/>
          <p:cNvSpPr/>
          <p:nvPr/>
        </p:nvSpPr>
        <p:spPr>
          <a:xfrm>
            <a:off x="11548872" y="6400800"/>
            <a:ext cx="36576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F5E5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Conclusion and Future Recommendations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71600"/>
            <a:ext cx="10881360" cy="1463040"/>
          </a:xfrm>
          <a:prstGeom prst="roundRect">
            <a:avLst>
              <a:gd name="adj" fmla="val 7500"/>
            </a:avLst>
          </a:prstGeom>
          <a:solidFill>
            <a:srgbClr val="E1F5EE"/>
          </a:solidFill>
        </p:spPr>
      </p:sp>
      <p:sp>
        <p:nvSpPr>
          <p:cNvPr id="4" name="Text 2"/>
          <p:cNvSpPr/>
          <p:nvPr/>
        </p:nvSpPr>
        <p:spPr>
          <a:xfrm>
            <a:off x="914400" y="1600200"/>
            <a:ext cx="10332720" cy="10058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85041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Conclusion: 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Removing the reusable secret from the general-purpose computer, and confining it to a hardware root of trust, neutralizes an entire class of session-hijacking attacks — regardless of how the device was compromised in the first place.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154680"/>
            <a:ext cx="365760" cy="36576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6" name="Text 4"/>
          <p:cNvSpPr/>
          <p:nvPr/>
        </p:nvSpPr>
        <p:spPr>
          <a:xfrm>
            <a:off x="640080" y="3154680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188720" y="3108960"/>
            <a:ext cx="94183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Replace HTTP with TLS across all connections, including the browser and local agent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813048"/>
            <a:ext cx="365760" cy="36576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9" name="Text 7"/>
          <p:cNvSpPr/>
          <p:nvPr/>
        </p:nvSpPr>
        <p:spPr>
          <a:xfrm>
            <a:off x="640080" y="3813048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3767328"/>
            <a:ext cx="94183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Support more than one registered key per user (primary and backup) with a secure revocation mechanism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40080" y="4471416"/>
            <a:ext cx="365760" cy="36576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2" name="Text 10"/>
          <p:cNvSpPr/>
          <p:nvPr/>
        </p:nvSpPr>
        <p:spPr>
          <a:xfrm>
            <a:off x="640080" y="4471416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4425696"/>
            <a:ext cx="94183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Migrate to native browser WebAuthn interfaces to remove the need for a custom agent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5129784"/>
            <a:ext cx="365760" cy="365760"/>
          </a:xfrm>
          <a:prstGeom prst="ellipse">
            <a:avLst/>
          </a:prstGeom>
          <a:solidFill>
            <a:srgbClr val="F2A522"/>
          </a:solidFill>
        </p:spPr>
      </p:sp>
      <p:sp>
        <p:nvSpPr>
          <p:cNvPr id="15" name="Text 13"/>
          <p:cNvSpPr/>
          <p:nvPr/>
        </p:nvSpPr>
        <p:spPr>
          <a:xfrm>
            <a:off x="640080" y="5129784"/>
            <a:ext cx="36576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B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4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5084064"/>
            <a:ext cx="9418320" cy="5486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2C2C2A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Reinforce the confirmation step with a physical button or fingerprint instead of a software dialog, where supported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394960" y="2103120"/>
            <a:ext cx="1371600" cy="1371600"/>
          </a:xfrm>
          <a:prstGeom prst="ellipse">
            <a:avLst/>
          </a:prstGeom>
          <a:solidFill>
            <a:srgbClr val="1D9E75"/>
          </a:solidFill>
        </p:spPr>
      </p:sp>
      <p:pic>
        <p:nvPicPr>
          <p:cNvPr id="3" name="Image 0" descr="icons/lock_whit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37860" y="2446020"/>
            <a:ext cx="685800" cy="6858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3840480"/>
            <a:ext cx="105156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anose="020B0604020202020204" pitchFamily="34" charset="0"/>
                <a:ea typeface="Arial" panose="020B0604020202020204" pitchFamily="34" charset="-122"/>
                <a:cs typeface="Arial" panose="020B0604020202020204" pitchFamily="34" charset="-120"/>
              </a:rPr>
              <a:t>Thank You</a:t>
            </a:r>
            <a:endParaRPr lang="en-US" sz="3600" dirty="0"/>
          </a:p>
        </p:txBody>
      </p:sp>
      <p:sp>
        <p:nvSpPr>
          <p:cNvPr id="5" name="Text 2"/>
          <p:cNvSpPr/>
          <p:nvPr/>
        </p:nvSpPr>
        <p:spPr>
          <a:xfrm>
            <a:off x="822960" y="4709160"/>
            <a:ext cx="1051560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2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3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4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5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6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7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8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9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0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1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2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3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4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5.xml><?xml version="1.0" encoding="utf-8"?>
<p:tagLst xmlns:p="http://schemas.openxmlformats.org/presentationml/2006/main">
  <p:tag name="KSO_WM_DIAGRAM_VIRTUALLY_FRAME" val="{&quot;height&quot;:376.56000000000006,&quot;left&quot;:68.4,&quot;top&quot;:108,&quot;width&quot;:716.4}"/>
</p:tagLst>
</file>

<file path=ppt/tags/tag16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17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18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19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0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1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2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3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4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5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6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7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8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29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30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31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32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33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34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ags/tag35.xml><?xml version="1.0" encoding="utf-8"?>
<p:tagLst xmlns:p="http://schemas.openxmlformats.org/presentationml/2006/main">
  <p:tag name="KSO_WM_DIAGRAM_VIRTUALLY_FRAME" val="{&quot;height&quot;:331.2,&quot;left&quot;:50.4,&quot;top&quot;:108,&quot;width&quot;:846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6945</Words>
  <Application>WPS Presentation</Application>
  <PresentationFormat>On-screen Show (16:9)</PresentationFormat>
  <Paragraphs>224</Paragraphs>
  <Slides>18</Slides>
  <Notes>23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7" baseType="lpstr">
      <vt:lpstr>Arial</vt:lpstr>
      <vt:lpstr>SimSun</vt:lpstr>
      <vt:lpstr>Wingdings</vt:lpstr>
      <vt:lpstr>Arial</vt:lpstr>
      <vt:lpstr>Arial</vt:lpstr>
      <vt:lpstr>Calibri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PC</cp:lastModifiedBy>
  <cp:revision>3</cp:revision>
  <dcterms:created xsi:type="dcterms:W3CDTF">2026-07-26T00:53:00Z</dcterms:created>
  <dcterms:modified xsi:type="dcterms:W3CDTF">2026-07-29T00:33:11Z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03CFBCE9427C48D3AA45865CC5309C97_12</vt:lpwstr>
  </property>
  <property fmtid="{D5CDD505-2E9C-101B-9397-08002B2CF9AE}" pid="3" name="KSOProductBuildVer">
    <vt:lpwstr>1033-12.2.0.23206</vt:lpwstr>
  </property>
</Properties>
</file>