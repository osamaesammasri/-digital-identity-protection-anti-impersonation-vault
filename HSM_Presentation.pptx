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9" r:id="rId5"/>
    <p:sldId id="262" r:id="rId6"/>
    <p:sldId id="270" r:id="rId7"/>
    <p:sldId id="272" r:id="rId8"/>
    <p:sldId id="273" r:id="rId9"/>
    <p:sldId id="274" r:id="rId10"/>
    <p:sldId id="277" r:id="rId11"/>
    <p:sldId id="278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image" Target="../media/image6.png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2" Type="http://schemas.openxmlformats.org/officeDocument/2006/relationships/notesSlide" Target="../notesSlides/notesSlide6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15.xml"/><Relationship Id="rId2" Type="http://schemas.openxmlformats.org/officeDocument/2006/relationships/tags" Target="../tags/tag1.xml"/><Relationship Id="rId19" Type="http://schemas.openxmlformats.org/officeDocument/2006/relationships/tags" Target="../tags/tag14.xml"/><Relationship Id="rId18" Type="http://schemas.openxmlformats.org/officeDocument/2006/relationships/tags" Target="../tags/tag13.xml"/><Relationship Id="rId17" Type="http://schemas.openxmlformats.org/officeDocument/2006/relationships/image" Target="../media/image7.png"/><Relationship Id="rId16" Type="http://schemas.openxmlformats.org/officeDocument/2006/relationships/tags" Target="../tags/tag12.xml"/><Relationship Id="rId15" Type="http://schemas.openxmlformats.org/officeDocument/2006/relationships/tags" Target="../tags/tag11.xml"/><Relationship Id="rId14" Type="http://schemas.openxmlformats.org/officeDocument/2006/relationships/tags" Target="../tags/tag10.xml"/><Relationship Id="rId13" Type="http://schemas.openxmlformats.org/officeDocument/2006/relationships/image" Target="../media/image4.png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23.xml"/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image" Target="../media/image1.png"/><Relationship Id="rId3" Type="http://schemas.openxmlformats.org/officeDocument/2006/relationships/tags" Target="../tags/tag18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35.xml"/><Relationship Id="rId23" Type="http://schemas.openxmlformats.org/officeDocument/2006/relationships/tags" Target="../tags/tag34.xml"/><Relationship Id="rId22" Type="http://schemas.openxmlformats.org/officeDocument/2006/relationships/image" Target="../media/image11.png"/><Relationship Id="rId21" Type="http://schemas.openxmlformats.org/officeDocument/2006/relationships/tags" Target="../tags/tag33.xml"/><Relationship Id="rId20" Type="http://schemas.openxmlformats.org/officeDocument/2006/relationships/tags" Target="../tags/tag32.xml"/><Relationship Id="rId2" Type="http://schemas.openxmlformats.org/officeDocument/2006/relationships/tags" Target="../tags/tag17.xml"/><Relationship Id="rId19" Type="http://schemas.openxmlformats.org/officeDocument/2006/relationships/tags" Target="../tags/tag31.xml"/><Relationship Id="rId18" Type="http://schemas.openxmlformats.org/officeDocument/2006/relationships/tags" Target="../tags/tag30.xml"/><Relationship Id="rId17" Type="http://schemas.openxmlformats.org/officeDocument/2006/relationships/tags" Target="../tags/tag29.xml"/><Relationship Id="rId16" Type="http://schemas.openxmlformats.org/officeDocument/2006/relationships/image" Target="../media/image3.png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tags" Target="../tags/tag25.xml"/><Relationship Id="rId11" Type="http://schemas.openxmlformats.org/officeDocument/2006/relationships/tags" Target="../tags/tag24.xml"/><Relationship Id="rId10" Type="http://schemas.openxmlformats.org/officeDocument/2006/relationships/image" Target="../media/image6.png"/><Relationship Id="rId1" Type="http://schemas.openxmlformats.org/officeDocument/2006/relationships/tags" Target="../tags/tag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lo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02870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Hardware-Based Digital Identity Protection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0584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From the general concept of the HSM to its real-world implementation in the Digital Identity Protection Vault project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4434840"/>
            <a:ext cx="3657600" cy="0"/>
          </a:xfrm>
          <a:prstGeom prst="line">
            <a:avLst/>
          </a:prstGeom>
          <a:noFill/>
          <a:ln w="25400">
            <a:solidFill>
              <a:srgbClr val="F2A5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Hardware Security Modules — Concept, Industry Use, and a Real-World Implementation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What is an HSM?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6675120" cy="4754880"/>
          </a:xfrm>
          <a:prstGeom prst="roundRect">
            <a:avLst>
              <a:gd name="adj" fmla="val 2308"/>
            </a:avLst>
          </a:prstGeom>
          <a:solidFill>
            <a:srgbClr val="F7F7F5"/>
          </a:solidFill>
        </p:spPr>
      </p:sp>
      <p:sp>
        <p:nvSpPr>
          <p:cNvPr id="4" name="Text 2"/>
          <p:cNvSpPr/>
          <p:nvPr/>
        </p:nvSpPr>
        <p:spPr>
          <a:xfrm>
            <a:off x="960120" y="1645920"/>
            <a:ext cx="6035040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Hardware Security Module (HSM):
</a:t>
            </a: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specialized physical hardware device, built for one purpose only: generating, storing, and using cryptographic keys </a:t>
            </a:r>
            <a:r>
              <a:rPr lang="en-US" sz="1500" b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without ever letting them leave the device.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60350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Think of it like a bank vault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60350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4112260"/>
            <a:ext cx="603504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This project specifically uses Pico HSM: </a:t>
            </a:r>
            <a:r>
              <a:rPr lang="en-US" sz="14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an open-source, USB-chip-sized version that applies the same principle at a fraction of the cost of enterprise-grade devices.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966960" y="1463040"/>
            <a:ext cx="640080" cy="640080"/>
          </a:xfrm>
          <a:prstGeom prst="ellipse">
            <a:avLst/>
          </a:prstGeom>
          <a:solidFill>
            <a:srgbClr val="0D1B2A"/>
          </a:solidFill>
        </p:spPr>
      </p:sp>
      <p:pic>
        <p:nvPicPr>
          <p:cNvPr id="9" name="Image 0" descr="icons/lo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16230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89520" y="1508760"/>
            <a:ext cx="22402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private key is never exported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966960" y="2423160"/>
            <a:ext cx="640080" cy="640080"/>
          </a:xfrm>
          <a:prstGeom prst="ellipse">
            <a:avLst/>
          </a:prstGeom>
          <a:solidFill>
            <a:srgbClr val="0D1B2A"/>
          </a:solidFill>
        </p:spPr>
      </p:sp>
      <p:pic>
        <p:nvPicPr>
          <p:cNvPr id="12" name="Image 1" descr="icons/cpu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6980" y="25831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89520" y="2468880"/>
            <a:ext cx="22402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All cryptographic operations happen internally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966960" y="3383280"/>
            <a:ext cx="640080" cy="640080"/>
          </a:xfrm>
          <a:prstGeom prst="ellipse">
            <a:avLst/>
          </a:prstGeom>
          <a:solidFill>
            <a:srgbClr val="0D1B2A"/>
          </a:solidFill>
        </p:spPr>
      </p:sp>
      <p:pic>
        <p:nvPicPr>
          <p:cNvPr id="15" name="Image 2" descr="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6980" y="35433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589520" y="3429000"/>
            <a:ext cx="22402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Tamper-resistant hardware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Core Functions of an HSM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4" name="Shape 2"/>
          <p:cNvSpPr/>
          <p:nvPr/>
        </p:nvSpPr>
        <p:spPr>
          <a:xfrm>
            <a:off x="868680" y="160020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key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33172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Key Generation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269748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Creating cryptographic key pairs with high-quality randomness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9" name="Shape 6"/>
          <p:cNvSpPr/>
          <p:nvPr/>
        </p:nvSpPr>
        <p:spPr>
          <a:xfrm>
            <a:off x="4572000" y="160020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0" name="Image 1" descr="icons/lo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0" y="233172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Secure Storage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572000" y="269748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Storing private keys in protected, non-extractable memory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14" name="Shape 10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5" name="Image 2" descr="icons/fi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75320" y="233172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Digital Signing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275320" y="269748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Signing data without ever exposing the key used to sign it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19" name="Shape 14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0" name="Image 3" descr="icons/refres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09194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68680" y="466344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Encryption &amp; Decryption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68680" y="502920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Processing sensitive data entirely internally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4340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24" name="Shape 18"/>
          <p:cNvSpPr/>
          <p:nvPr/>
        </p:nvSpPr>
        <p:spPr>
          <a:xfrm>
            <a:off x="4572000" y="393192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5" name="Image 4" descr="icons/shiel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09194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572000" y="466344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Tamper Resistance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4572000" y="502920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Detecting any physical intrusion attempt and auto-wiping keys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29" name="Shape 22"/>
          <p:cNvSpPr/>
          <p:nvPr/>
        </p:nvSpPr>
        <p:spPr>
          <a:xfrm>
            <a:off x="8275320" y="393192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0" name="Image 5" descr="icons/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340" y="409194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275320" y="466344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Regulatory Compliance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8275320" y="502920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Meeting standards such as FIPS 140-2/3 and PCI HSM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Problem: Session Hijacking (Pass-the-Cookie)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754880"/>
          </a:xfrm>
          <a:prstGeom prst="roundRect">
            <a:avLst>
              <a:gd name="adj" fmla="val 2308"/>
            </a:avLst>
          </a:prstGeom>
          <a:solidFill>
            <a:srgbClr val="FAECE7"/>
          </a:solidFill>
        </p:spPr>
      </p:sp>
      <p:sp>
        <p:nvSpPr>
          <p:cNvPr id="4" name="Shape 2"/>
          <p:cNvSpPr/>
          <p:nvPr/>
        </p:nvSpPr>
        <p:spPr>
          <a:xfrm>
            <a:off x="914400" y="1645920"/>
            <a:ext cx="731520" cy="731520"/>
          </a:xfrm>
          <a:prstGeom prst="ellipse">
            <a:avLst/>
          </a:prstGeom>
          <a:solidFill>
            <a:srgbClr val="D85A30"/>
          </a:solidFill>
        </p:spPr>
      </p:sp>
      <p:pic>
        <p:nvPicPr>
          <p:cNvPr id="5" name="Image 0" descr="icons/alert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737360"/>
            <a:ext cx="3840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12B1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Traditional Approach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4663440" cy="3474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The user logs in with a password
</a:t>
            </a: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The browser stores a Session Cookie / Token
</a:t>
            </a: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Any malware (infostealer) on the device reads this token
</a:t>
            </a:r>
            <a:r>
              <a:rPr lang="en-US" sz="1350" b="1" dirty="0">
                <a:solidFill>
                  <a:srgbClr val="712B1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The attacker uses the same token from their own machine and is treated as the legitimate user — without ever knowing the password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309360" y="1371600"/>
            <a:ext cx="5212080" cy="4754880"/>
          </a:xfrm>
          <a:prstGeom prst="roundRect">
            <a:avLst>
              <a:gd name="adj" fmla="val 2308"/>
            </a:avLst>
          </a:prstGeom>
          <a:solidFill>
            <a:srgbClr val="E1F5EE"/>
          </a:solidFill>
        </p:spPr>
      </p:sp>
      <p:sp>
        <p:nvSpPr>
          <p:cNvPr id="9" name="Shape 6"/>
          <p:cNvSpPr/>
          <p:nvPr/>
        </p:nvSpPr>
        <p:spPr>
          <a:xfrm>
            <a:off x="6583680" y="1645920"/>
            <a:ext cx="731520" cy="73152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0" name="Image 1" descr="icons/shiel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0" y="1737360"/>
            <a:ext cx="3657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504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Project's Solution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583680" y="2377440"/>
            <a:ext cx="4663440" cy="3474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8504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 static token is ever stored in the browser or on disk at all.
</a:t>
            </a: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Every login is a fresh digital signature on a random challenge, performed inside a physical Pico HSM — it can never be copied or reused.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System Architecture: Three Independent Components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7F7F5"/>
          </a:solidFill>
        </p:spPr>
      </p:sp>
      <p:sp>
        <p:nvSpPr>
          <p:cNvPr id="4" name="Shape 2"/>
          <p:cNvSpPr/>
          <p:nvPr/>
        </p:nvSpPr>
        <p:spPr>
          <a:xfrm>
            <a:off x="1897380" y="1920240"/>
            <a:ext cx="914400" cy="9144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server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21488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017520"/>
            <a:ext cx="30632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Mock Website (Relying Party)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14400" y="3611880"/>
            <a:ext cx="2880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test university admin portal: issues challenges and verifies signatures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087368" y="3108960"/>
            <a:ext cx="201168" cy="274320"/>
          </a:xfrm>
          <a:prstGeom prst="rightArrow">
            <a:avLst/>
          </a:prstGeom>
          <a:solidFill>
            <a:srgbClr val="F2A522"/>
          </a:solidFill>
        </p:spPr>
      </p:sp>
      <p:sp>
        <p:nvSpPr>
          <p:cNvPr id="9" name="Shape 6"/>
          <p:cNvSpPr/>
          <p:nvPr/>
        </p:nvSpPr>
        <p:spPr>
          <a:xfrm>
            <a:off x="4297680" y="16459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7F7F5"/>
          </a:solidFill>
        </p:spPr>
      </p:sp>
      <p:sp>
        <p:nvSpPr>
          <p:cNvPr id="10" name="Shape 7"/>
          <p:cNvSpPr/>
          <p:nvPr/>
        </p:nvSpPr>
        <p:spPr>
          <a:xfrm>
            <a:off x="5554980" y="1920240"/>
            <a:ext cx="914400" cy="9144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1" name="Image 1" descr="icons/cpu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0" y="21488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3017520"/>
            <a:ext cx="30632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Local Agent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72000" y="3611880"/>
            <a:ext cx="2880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service on the user's own machine only, the sole component able to talk to the HSM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744968" y="3108960"/>
            <a:ext cx="201168" cy="274320"/>
          </a:xfrm>
          <a:prstGeom prst="rightArrow">
            <a:avLst/>
          </a:prstGeom>
          <a:solidFill>
            <a:srgbClr val="F2A522"/>
          </a:solidFill>
        </p:spPr>
      </p:sp>
      <p:sp>
        <p:nvSpPr>
          <p:cNvPr id="15" name="Shape 11"/>
          <p:cNvSpPr/>
          <p:nvPr/>
        </p:nvSpPr>
        <p:spPr>
          <a:xfrm>
            <a:off x="7955280" y="16459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7F7F5"/>
          </a:solidFill>
        </p:spPr>
      </p:sp>
      <p:sp>
        <p:nvSpPr>
          <p:cNvPr id="16" name="Shape 12"/>
          <p:cNvSpPr/>
          <p:nvPr/>
        </p:nvSpPr>
        <p:spPr>
          <a:xfrm>
            <a:off x="9212580" y="1920240"/>
            <a:ext cx="914400" cy="9144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7" name="Image 2" descr="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0" y="214884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38160" y="3017520"/>
            <a:ext cx="30632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Pico HSM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229600" y="3611880"/>
            <a:ext cx="2880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physical root of trust; signs internally and never exports the private key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Communication between components happens strictly over localhost, with origin verification at every step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Challenge-Response Protocol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4" name="Shape 2"/>
          <p:cNvSpPr/>
          <p:nvPr/>
        </p:nvSpPr>
        <p:spPr>
          <a:xfrm>
            <a:off x="10195560" y="1531620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user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1668780"/>
            <a:ext cx="274320" cy="274320"/>
          </a:xfrm>
          <a:prstGeom prst="rect">
            <a:avLst/>
          </a:prstGeom>
        </p:spPr>
      </p:pic>
      <p:sp>
        <p:nvSpPr>
          <p:cNvPr id="6" name="Shape 3"/>
          <p:cNvSpPr/>
          <p:nvPr>
            <p:custDataLst>
              <p:tags r:id="rId2"/>
            </p:custDataLst>
          </p:nvPr>
        </p:nvSpPr>
        <p:spPr>
          <a:xfrm>
            <a:off x="868680" y="1577340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7" name="Text 4"/>
          <p:cNvSpPr/>
          <p:nvPr>
            <p:custDataLst>
              <p:tags r:id="rId3"/>
            </p:custDataLst>
          </p:nvPr>
        </p:nvSpPr>
        <p:spPr>
          <a:xfrm>
            <a:off x="868680" y="157734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4"/>
            </p:custDataLst>
          </p:nvPr>
        </p:nvSpPr>
        <p:spPr>
          <a:xfrm>
            <a:off x="1554480" y="1371600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user requests login with just their username — no password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350008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10" name="Shape 7"/>
          <p:cNvSpPr/>
          <p:nvPr/>
        </p:nvSpPr>
        <p:spPr>
          <a:xfrm>
            <a:off x="10195560" y="2510028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1" name="Image 1" descr="icons/refres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0" y="2647188"/>
            <a:ext cx="274320" cy="274320"/>
          </a:xfrm>
          <a:prstGeom prst="rect">
            <a:avLst/>
          </a:prstGeom>
        </p:spPr>
      </p:pic>
      <p:sp>
        <p:nvSpPr>
          <p:cNvPr id="12" name="Shape 8"/>
          <p:cNvSpPr/>
          <p:nvPr>
            <p:custDataLst>
              <p:tags r:id="rId6"/>
            </p:custDataLst>
          </p:nvPr>
        </p:nvSpPr>
        <p:spPr>
          <a:xfrm>
            <a:off x="868680" y="2555748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3" name="Text 9"/>
          <p:cNvSpPr/>
          <p:nvPr>
            <p:custDataLst>
              <p:tags r:id="rId7"/>
            </p:custDataLst>
          </p:nvPr>
        </p:nvSpPr>
        <p:spPr>
          <a:xfrm>
            <a:off x="868680" y="2555748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0"/>
          <p:cNvSpPr/>
          <p:nvPr>
            <p:custDataLst>
              <p:tags r:id="rId8"/>
            </p:custDataLst>
          </p:nvPr>
        </p:nvSpPr>
        <p:spPr>
          <a:xfrm>
            <a:off x="1554480" y="2350008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server generates a random challenge, valid once and for 60 seconds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328416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16" name="Shape 12"/>
          <p:cNvSpPr/>
          <p:nvPr/>
        </p:nvSpPr>
        <p:spPr>
          <a:xfrm>
            <a:off x="10195560" y="3488436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7" name="Image 2" descr="icons/shield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32720" y="3625596"/>
            <a:ext cx="274320" cy="274320"/>
          </a:xfrm>
          <a:prstGeom prst="rect">
            <a:avLst/>
          </a:prstGeom>
        </p:spPr>
      </p:pic>
      <p:sp>
        <p:nvSpPr>
          <p:cNvPr id="18" name="Shape 13"/>
          <p:cNvSpPr/>
          <p:nvPr>
            <p:custDataLst>
              <p:tags r:id="rId10"/>
            </p:custDataLst>
          </p:nvPr>
        </p:nvSpPr>
        <p:spPr>
          <a:xfrm>
            <a:off x="868680" y="3534156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9" name="Text 14"/>
          <p:cNvSpPr/>
          <p:nvPr>
            <p:custDataLst>
              <p:tags r:id="rId11"/>
            </p:custDataLst>
          </p:nvPr>
        </p:nvSpPr>
        <p:spPr>
          <a:xfrm>
            <a:off x="868680" y="3534156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5"/>
          <p:cNvSpPr/>
          <p:nvPr>
            <p:custDataLst>
              <p:tags r:id="rId12"/>
            </p:custDataLst>
          </p:nvPr>
        </p:nvSpPr>
        <p:spPr>
          <a:xfrm>
            <a:off x="1554480" y="3328416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local agent asks for your approval before any signing operation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40080" y="4306824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22" name="Shape 17"/>
          <p:cNvSpPr/>
          <p:nvPr/>
        </p:nvSpPr>
        <p:spPr>
          <a:xfrm>
            <a:off x="10195560" y="4466844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3" name="Image 3" descr="icons/key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32720" y="4604004"/>
            <a:ext cx="274320" cy="274320"/>
          </a:xfrm>
          <a:prstGeom prst="rect">
            <a:avLst/>
          </a:prstGeom>
        </p:spPr>
      </p:pic>
      <p:sp>
        <p:nvSpPr>
          <p:cNvPr id="24" name="Shape 18"/>
          <p:cNvSpPr/>
          <p:nvPr>
            <p:custDataLst>
              <p:tags r:id="rId14"/>
            </p:custDataLst>
          </p:nvPr>
        </p:nvSpPr>
        <p:spPr>
          <a:xfrm>
            <a:off x="868680" y="4512564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25" name="Text 19"/>
          <p:cNvSpPr/>
          <p:nvPr>
            <p:custDataLst>
              <p:tags r:id="rId15"/>
            </p:custDataLst>
          </p:nvPr>
        </p:nvSpPr>
        <p:spPr>
          <a:xfrm>
            <a:off x="868680" y="4512564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0"/>
          <p:cNvSpPr/>
          <p:nvPr>
            <p:custDataLst>
              <p:tags r:id="rId16"/>
            </p:custDataLst>
          </p:nvPr>
        </p:nvSpPr>
        <p:spPr>
          <a:xfrm>
            <a:off x="1554480" y="4306824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Pico HSM signs the challenge internally, without exposing the key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40080" y="5285232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28" name="Shape 22"/>
          <p:cNvSpPr/>
          <p:nvPr/>
        </p:nvSpPr>
        <p:spPr>
          <a:xfrm>
            <a:off x="10195560" y="5445252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9" name="Image 4" descr="icons/check_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332720" y="5582412"/>
            <a:ext cx="274320" cy="274320"/>
          </a:xfrm>
          <a:prstGeom prst="rect">
            <a:avLst/>
          </a:prstGeom>
        </p:spPr>
      </p:pic>
      <p:sp>
        <p:nvSpPr>
          <p:cNvPr id="30" name="Shape 23"/>
          <p:cNvSpPr/>
          <p:nvPr>
            <p:custDataLst>
              <p:tags r:id="rId18"/>
            </p:custDataLst>
          </p:nvPr>
        </p:nvSpPr>
        <p:spPr>
          <a:xfrm>
            <a:off x="868680" y="5490972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31" name="Text 24"/>
          <p:cNvSpPr/>
          <p:nvPr>
            <p:custDataLst>
              <p:tags r:id="rId19"/>
            </p:custDataLst>
          </p:nvPr>
        </p:nvSpPr>
        <p:spPr>
          <a:xfrm>
            <a:off x="868680" y="5490972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5"/>
          <p:cNvSpPr/>
          <p:nvPr>
            <p:custDataLst>
              <p:tags r:id="rId20"/>
            </p:custDataLst>
          </p:nvPr>
        </p:nvSpPr>
        <p:spPr>
          <a:xfrm>
            <a:off x="1554480" y="5285232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server verifies it with the public key and opens the session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Security Controls Implemented</a:t>
            </a:r>
            <a:endParaRPr lang="en-US" sz="28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640080" y="137160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7F7F5"/>
          </a:solidFill>
        </p:spPr>
      </p:sp>
      <p:sp>
        <p:nvSpPr>
          <p:cNvPr id="4" name="Shape 2"/>
          <p:cNvSpPr/>
          <p:nvPr>
            <p:custDataLst>
              <p:tags r:id="rId2"/>
            </p:custDataLst>
          </p:nvPr>
        </p:nvSpPr>
        <p:spPr>
          <a:xfrm>
            <a:off x="960120" y="1600200"/>
            <a:ext cx="685800" cy="6858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lock_white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31570" y="17716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>
            <p:custDataLst>
              <p:tags r:id="rId5"/>
            </p:custDataLst>
          </p:nvPr>
        </p:nvSpPr>
        <p:spPr>
          <a:xfrm>
            <a:off x="1828800" y="1600200"/>
            <a:ext cx="38404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Non-Extractable Key</a:t>
            </a:r>
            <a:endParaRPr lang="en-US" sz="1500" dirty="0"/>
          </a:p>
        </p:txBody>
      </p:sp>
      <p:sp>
        <p:nvSpPr>
          <p:cNvPr id="7" name="Text 4"/>
          <p:cNvSpPr/>
          <p:nvPr>
            <p:custDataLst>
              <p:tags r:id="rId6"/>
            </p:custDataLst>
          </p:nvPr>
        </p:nvSpPr>
        <p:spPr>
          <a:xfrm>
            <a:off x="960120" y="2280285"/>
            <a:ext cx="4663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EXTRACTABLE = false attribute permanently prevents exporting the private key</a:t>
            </a:r>
            <a:endParaRPr lang="en-US" sz="1200" dirty="0"/>
          </a:p>
        </p:txBody>
      </p:sp>
      <p:sp>
        <p:nvSpPr>
          <p:cNvPr id="8" name="Shape 5"/>
          <p:cNvSpPr/>
          <p:nvPr>
            <p:custDataLst>
              <p:tags r:id="rId7"/>
            </p:custDataLst>
          </p:nvPr>
        </p:nvSpPr>
        <p:spPr>
          <a:xfrm>
            <a:off x="6172200" y="137160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7F7F5"/>
          </a:solidFill>
        </p:spPr>
      </p:sp>
      <p:sp>
        <p:nvSpPr>
          <p:cNvPr id="9" name="Shape 6"/>
          <p:cNvSpPr/>
          <p:nvPr>
            <p:custDataLst>
              <p:tags r:id="rId8"/>
            </p:custDataLst>
          </p:nvPr>
        </p:nvSpPr>
        <p:spPr>
          <a:xfrm>
            <a:off x="6492240" y="1600200"/>
            <a:ext cx="685800" cy="6858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0" name="Image 1" descr="icons/refresh_white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663690" y="177165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/>
          <p:nvPr>
            <p:custDataLst>
              <p:tags r:id="rId11"/>
            </p:custDataLst>
          </p:nvPr>
        </p:nvSpPr>
        <p:spPr>
          <a:xfrm>
            <a:off x="7360920" y="1600200"/>
            <a:ext cx="38404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Single-Use Challenge</a:t>
            </a:r>
            <a:endParaRPr lang="en-US" sz="1500" dirty="0"/>
          </a:p>
        </p:txBody>
      </p:sp>
      <p:sp>
        <p:nvSpPr>
          <p:cNvPr id="12" name="Text 8"/>
          <p:cNvSpPr/>
          <p:nvPr>
            <p:custDataLst>
              <p:tags r:id="rId12"/>
            </p:custDataLst>
          </p:nvPr>
        </p:nvSpPr>
        <p:spPr>
          <a:xfrm>
            <a:off x="6446520" y="2194560"/>
            <a:ext cx="4663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Valid for only 60 seconds, invalidated immediately after verification to prevent replay</a:t>
            </a:r>
            <a:endParaRPr lang="en-US" sz="1200" dirty="0"/>
          </a:p>
        </p:txBody>
      </p:sp>
      <p:sp>
        <p:nvSpPr>
          <p:cNvPr id="13" name="Shape 9"/>
          <p:cNvSpPr/>
          <p:nvPr>
            <p:custDataLst>
              <p:tags r:id="rId13"/>
            </p:custDataLst>
          </p:nvPr>
        </p:nvSpPr>
        <p:spPr>
          <a:xfrm>
            <a:off x="640080" y="361188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7F7F5"/>
          </a:solidFill>
        </p:spPr>
      </p:sp>
      <p:sp>
        <p:nvSpPr>
          <p:cNvPr id="14" name="Shape 10"/>
          <p:cNvSpPr/>
          <p:nvPr>
            <p:custDataLst>
              <p:tags r:id="rId14"/>
            </p:custDataLst>
          </p:nvPr>
        </p:nvSpPr>
        <p:spPr>
          <a:xfrm>
            <a:off x="960120" y="3840480"/>
            <a:ext cx="685800" cy="6858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5" name="Image 2" descr="icons/shield_white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131570" y="401193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/>
          <p:nvPr>
            <p:custDataLst>
              <p:tags r:id="rId17"/>
            </p:custDataLst>
          </p:nvPr>
        </p:nvSpPr>
        <p:spPr>
          <a:xfrm>
            <a:off x="1828800" y="3840480"/>
            <a:ext cx="38404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Origin Validation</a:t>
            </a:r>
            <a:endParaRPr lang="en-US" sz="1500" dirty="0"/>
          </a:p>
        </p:txBody>
      </p:sp>
      <p:sp>
        <p:nvSpPr>
          <p:cNvPr id="17" name="Text 12"/>
          <p:cNvSpPr/>
          <p:nvPr>
            <p:custDataLst>
              <p:tags r:id="rId18"/>
            </p:custDataLst>
          </p:nvPr>
        </p:nvSpPr>
        <p:spPr>
          <a:xfrm>
            <a:off x="914400" y="4434840"/>
            <a:ext cx="4663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local agent rejects any request not coming from the registered site address</a:t>
            </a:r>
            <a:endParaRPr lang="en-US" sz="1200" dirty="0"/>
          </a:p>
        </p:txBody>
      </p:sp>
      <p:sp>
        <p:nvSpPr>
          <p:cNvPr id="18" name="Shape 13"/>
          <p:cNvSpPr/>
          <p:nvPr>
            <p:custDataLst>
              <p:tags r:id="rId19"/>
            </p:custDataLst>
          </p:nvPr>
        </p:nvSpPr>
        <p:spPr>
          <a:xfrm>
            <a:off x="6172200" y="361188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7F7F5"/>
          </a:solidFill>
        </p:spPr>
      </p:sp>
      <p:sp>
        <p:nvSpPr>
          <p:cNvPr id="19" name="Shape 14"/>
          <p:cNvSpPr/>
          <p:nvPr>
            <p:custDataLst>
              <p:tags r:id="rId20"/>
            </p:custDataLst>
          </p:nvPr>
        </p:nvSpPr>
        <p:spPr>
          <a:xfrm>
            <a:off x="6492240" y="3840480"/>
            <a:ext cx="685800" cy="6858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0" name="Image 3" descr="icons/eyeoff_white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6663690" y="401193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/>
          <p:nvPr>
            <p:custDataLst>
              <p:tags r:id="rId23"/>
            </p:custDataLst>
          </p:nvPr>
        </p:nvSpPr>
        <p:spPr>
          <a:xfrm>
            <a:off x="7360920" y="3840480"/>
            <a:ext cx="38404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Mandatory Human Confirmation</a:t>
            </a:r>
            <a:endParaRPr lang="en-US" sz="1500" dirty="0"/>
          </a:p>
        </p:txBody>
      </p:sp>
      <p:sp>
        <p:nvSpPr>
          <p:cNvPr id="22" name="Text 16"/>
          <p:cNvSpPr/>
          <p:nvPr>
            <p:custDataLst>
              <p:tags r:id="rId24"/>
            </p:custDataLst>
          </p:nvPr>
        </p:nvSpPr>
        <p:spPr>
          <a:xfrm>
            <a:off x="6446520" y="4434840"/>
            <a:ext cx="4663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local confirmation window before every signature, preventing silent exploitation by malware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Conclusion and Future Recommendations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463040"/>
          </a:xfrm>
          <a:prstGeom prst="roundRect">
            <a:avLst>
              <a:gd name="adj" fmla="val 7500"/>
            </a:avLst>
          </a:prstGeom>
          <a:solidFill>
            <a:srgbClr val="E1F5EE"/>
          </a:solidFill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8504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Conclusion: 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Removing the reusable secret from the general-purpose computer, and confining it to a hardware root of trust, neutralizes an entire class of session-hijacking attacks — regardless of how the device was compromised in the first place.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6" name="Text 4"/>
          <p:cNvSpPr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3108960"/>
            <a:ext cx="9418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Replace HTTP with TLS across all connections, including the browser and local agent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813048"/>
            <a:ext cx="365760" cy="36576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9" name="Text 7"/>
          <p:cNvSpPr/>
          <p:nvPr/>
        </p:nvSpPr>
        <p:spPr>
          <a:xfrm>
            <a:off x="640080" y="3813048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3767328"/>
            <a:ext cx="9418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Support more than one registered key per user (primary and backup) with a secure revocation mechanism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471416"/>
            <a:ext cx="365760" cy="36576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2" name="Text 10"/>
          <p:cNvSpPr/>
          <p:nvPr/>
        </p:nvSpPr>
        <p:spPr>
          <a:xfrm>
            <a:off x="640080" y="4471416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4425696"/>
            <a:ext cx="9418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Migrate to native browser WebAuthn interfaces to remove the need for a custom agent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129784"/>
            <a:ext cx="365760" cy="36576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5" name="Text 13"/>
          <p:cNvSpPr/>
          <p:nvPr/>
        </p:nvSpPr>
        <p:spPr>
          <a:xfrm>
            <a:off x="640080" y="512978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5084064"/>
            <a:ext cx="9418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Reinforce the confirmation step with a physical button or fingerprint instead of a software dialog, where supported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2103120"/>
            <a:ext cx="1371600" cy="13716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lo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7860" y="24460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3840480"/>
            <a:ext cx="105156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2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3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4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5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6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7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8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9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0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1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2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3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4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5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6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17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18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19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0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1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2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3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4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5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6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7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8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9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0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1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2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3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4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5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3707</Words>
  <Application>WPS Presentation</Application>
  <PresentationFormat>On-screen Show (16:9)</PresentationFormat>
  <Paragraphs>134</Paragraphs>
  <Slides>9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SimSun</vt:lpstr>
      <vt:lpstr>Wingdings</vt:lpstr>
      <vt:lpstr>Arial</vt:lpstr>
      <vt:lpstr>Arial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PC</cp:lastModifiedBy>
  <cp:revision>4</cp:revision>
  <dcterms:created xsi:type="dcterms:W3CDTF">2026-07-26T00:53:00Z</dcterms:created>
  <dcterms:modified xsi:type="dcterms:W3CDTF">2026-07-29T01:14:48Z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03CFBCE9427C48D3AA45865CC5309C97_12</vt:lpwstr>
  </property>
  <property fmtid="{D5CDD505-2E9C-101B-9397-08002B2CF9AE}" pid="3" name="KSOProductBuildVer">
    <vt:lpwstr>1033-12.2.0.23206</vt:lpwstr>
  </property>
</Properties>
</file>